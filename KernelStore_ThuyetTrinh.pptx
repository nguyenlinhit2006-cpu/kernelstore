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52509B-89F5-402F-8CF6-2C92645730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769697-C12C-40BC-847A-41A33E4E5AE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3A1AA5-4DA7-483F-872F-C9C77A3BC12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8736395-E6F0-47BD-9A7A-154920D301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5FE3C1-897F-48B0-8691-25EAA60EE6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CBF2D3-FBA7-4619-9C21-67D764C607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2586C6-2253-489A-8535-8F8513E339B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A19B32-0573-4ECA-9E0C-29BC34FA214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D18365C-CC35-4322-A73A-ACA6193CEA3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B77083-1D14-496E-8CED-2CB629C473F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EE085A-097E-49A6-AAED-317A7A3132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6" Type="http://schemas.openxmlformats.org/officeDocument/2006/relationships/image" Target="../media/image6.png"/><Relationship Id="rId7" Type="http://schemas.openxmlformats.org/officeDocument/2006/relationships/image" Target="../media/image7.jpeg"/><Relationship Id="rId8" Type="http://schemas.openxmlformats.org/officeDocument/2006/relationships/image" Target="../media/image8.jpeg"/><Relationship Id="rId9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8.jpeg"/><Relationship Id="rId3" Type="http://schemas.openxmlformats.org/officeDocument/2006/relationships/image" Target="../media/image5.jpeg"/><Relationship Id="rId4" Type="http://schemas.openxmlformats.org/officeDocument/2006/relationships/image" Target="../media/image10.jpeg"/><Relationship Id="rId5" Type="http://schemas.openxmlformats.org/officeDocument/2006/relationships/image" Target="../media/image7.jpeg"/><Relationship Id="rId6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image" Target="../media/image12.jpeg"/><Relationship Id="rId5" Type="http://schemas.openxmlformats.org/officeDocument/2006/relationships/image" Target="../media/image13.jpeg"/><Relationship Id="rId6" Type="http://schemas.openxmlformats.org/officeDocument/2006/relationships/image" Target="../media/image14.jpeg"/><Relationship Id="rId7" Type="http://schemas.openxmlformats.org/officeDocument/2006/relationships/image" Target="../media/image15.jpeg"/><Relationship Id="rId8" Type="http://schemas.openxmlformats.org/officeDocument/2006/relationships/image" Target="../media/image16.jpeg"/><Relationship Id="rId9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0" y="6711840"/>
            <a:ext cx="12191400" cy="145800"/>
          </a:xfrm>
          <a:prstGeom prst="rect">
            <a:avLst/>
          </a:prstGeom>
          <a:solidFill>
            <a:srgbClr val="58A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914400" y="10058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8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kernel@store:~$ </a:t>
            </a:r>
            <a:r>
              <a:rPr lang="en-US" sz="18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./launch --marketplace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868680" y="1600200"/>
            <a:ext cx="104238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76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Kernel</a:t>
            </a:r>
            <a:r>
              <a:rPr lang="en-US" sz="7600" b="1" u="none" strike="noStrike">
                <a:solidFill>
                  <a:srgbClr val="3FB950"/>
                </a:solidFill>
                <a:effectLst/>
                <a:uFillTx/>
                <a:latin typeface="Segoe UI"/>
              </a:rPr>
              <a:t>Store</a:t>
            </a:r>
            <a:endParaRPr lang="en-US" sz="7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914400" y="306324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600" b="1" u="none" strike="noStrike">
                <a:solidFill>
                  <a:srgbClr val="58A6FF"/>
                </a:solidFill>
                <a:effectLst/>
                <a:uFillTx/>
                <a:latin typeface="Segoe UI"/>
              </a:rPr>
              <a:t>Sàn Thương Mại Điện Tử Đa Nhà Cung Cấp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914400" y="3703320"/>
            <a:ext cx="10423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Multi-vendor E-commerce Marketplace cho hệ sinh thái công nghệ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ounded Rectangle 8"/>
          <p:cNvSpPr/>
          <p:nvPr/>
        </p:nvSpPr>
        <p:spPr>
          <a:xfrm>
            <a:off x="914400" y="4343400"/>
            <a:ext cx="1622880" cy="402120"/>
          </a:xfrm>
          <a:prstGeom prst="roundRect">
            <a:avLst>
              <a:gd name="adj" fmla="val 50000"/>
            </a:avLst>
          </a:prstGeom>
          <a:solidFill>
            <a:srgbClr val="1B222D"/>
          </a:solidFill>
          <a:ln w="15875">
            <a:solidFill>
              <a:srgbClr val="3FB9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914400" y="4380120"/>
            <a:ext cx="1622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Rust + Leptos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ounded Rectangle 10"/>
          <p:cNvSpPr/>
          <p:nvPr/>
        </p:nvSpPr>
        <p:spPr>
          <a:xfrm>
            <a:off x="2738520" y="4343400"/>
            <a:ext cx="1833120" cy="402120"/>
          </a:xfrm>
          <a:prstGeom prst="roundRect">
            <a:avLst>
              <a:gd name="adj" fmla="val 50000"/>
            </a:avLst>
          </a:prstGeom>
          <a:solidFill>
            <a:srgbClr val="1B222D"/>
          </a:solidFill>
          <a:ln w="15875">
            <a:solidFill>
              <a:srgbClr val="58A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2738520" y="4380120"/>
            <a:ext cx="1833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ASP.NET Core 10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12"/>
          <p:cNvSpPr/>
          <p:nvPr/>
        </p:nvSpPr>
        <p:spPr>
          <a:xfrm>
            <a:off x="4773240" y="4343400"/>
            <a:ext cx="1622880" cy="402120"/>
          </a:xfrm>
          <a:prstGeom prst="roundRect">
            <a:avLst>
              <a:gd name="adj" fmla="val 50000"/>
            </a:avLst>
          </a:prstGeom>
          <a:solidFill>
            <a:srgbClr val="1B222D"/>
          </a:solidFill>
          <a:ln w="15875">
            <a:solidFill>
              <a:srgbClr val="E3B3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13"/>
          <p:cNvSpPr/>
          <p:nvPr/>
        </p:nvSpPr>
        <p:spPr>
          <a:xfrm>
            <a:off x="4773240" y="4380120"/>
            <a:ext cx="1622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E3B341"/>
                </a:solidFill>
                <a:effectLst/>
                <a:uFillTx/>
                <a:latin typeface="Consolas"/>
              </a:rPr>
              <a:t>PostgreSQL 16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14"/>
          <p:cNvSpPr/>
          <p:nvPr/>
        </p:nvSpPr>
        <p:spPr>
          <a:xfrm>
            <a:off x="6597360" y="4343400"/>
            <a:ext cx="1307160" cy="402120"/>
          </a:xfrm>
          <a:prstGeom prst="roundRect">
            <a:avLst>
              <a:gd name="adj" fmla="val 50000"/>
            </a:avLst>
          </a:prstGeom>
          <a:solidFill>
            <a:srgbClr val="1B222D"/>
          </a:solidFill>
          <a:ln w="15875">
            <a:solidFill>
              <a:srgbClr val="BC8C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15"/>
          <p:cNvSpPr/>
          <p:nvPr/>
        </p:nvSpPr>
        <p:spPr>
          <a:xfrm>
            <a:off x="6597360" y="4380120"/>
            <a:ext cx="1307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BC8CFF"/>
                </a:solidFill>
                <a:effectLst/>
                <a:uFillTx/>
                <a:latin typeface="Consolas"/>
              </a:rPr>
              <a:t>JWT + RBAC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16"/>
          <p:cNvSpPr/>
          <p:nvPr/>
        </p:nvSpPr>
        <p:spPr>
          <a:xfrm>
            <a:off x="8106120" y="4343400"/>
            <a:ext cx="1728000" cy="402120"/>
          </a:xfrm>
          <a:prstGeom prst="roundRect">
            <a:avLst>
              <a:gd name="adj" fmla="val 50000"/>
            </a:avLst>
          </a:prstGeom>
          <a:solidFill>
            <a:srgbClr val="1B222D"/>
          </a:solidFill>
          <a:ln w="15875">
            <a:solidFill>
              <a:srgbClr val="3FB9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17"/>
          <p:cNvSpPr/>
          <p:nvPr/>
        </p:nvSpPr>
        <p:spPr>
          <a:xfrm>
            <a:off x="8106120" y="4380120"/>
            <a:ext cx="1728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WebSocket Chat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8"/>
          <p:cNvSpPr/>
          <p:nvPr/>
        </p:nvSpPr>
        <p:spPr>
          <a:xfrm>
            <a:off x="914400" y="5394960"/>
            <a:ext cx="10058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Đề tài kết thúc môn  ·  Bài thuyết trình giới thiệu sản phẩm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Sinh viên thực hiện: </a:t>
            </a:r>
            <a:r>
              <a:rPr lang="en-US" sz="1300" b="1" u="none" strike="noStrike">
                <a:solidFill>
                  <a:srgbClr val="3FB950"/>
                </a:solidFill>
                <a:effectLst/>
                <a:uFillTx/>
                <a:latin typeface="Segoe UI"/>
              </a:rPr>
              <a:t>Linh</a:t>
            </a: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      ·      Ngày: 08 / 2026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2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640080" y="5029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// gioi-thieu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4"/>
          <p:cNvSpPr/>
          <p:nvPr/>
        </p:nvSpPr>
        <p:spPr>
          <a:xfrm>
            <a:off x="603360" y="82296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Giới thiệu đề tài &amp; Bài toán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5"/>
          <p:cNvSpPr/>
          <p:nvPr/>
        </p:nvSpPr>
        <p:spPr>
          <a:xfrm>
            <a:off x="658440" y="1481400"/>
            <a:ext cx="1371240" cy="4068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6"/>
          <p:cNvSpPr/>
          <p:nvPr/>
        </p:nvSpPr>
        <p:spPr>
          <a:xfrm>
            <a:off x="10972800" y="635508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02 / 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7"/>
          <p:cNvSpPr/>
          <p:nvPr/>
        </p:nvSpPr>
        <p:spPr>
          <a:xfrm>
            <a:off x="640080" y="63550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KernelStore — Multi-vendor Marketplace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8"/>
          <p:cNvSpPr/>
          <p:nvPr/>
        </p:nvSpPr>
        <p:spPr>
          <a:xfrm>
            <a:off x="658440" y="1783080"/>
            <a:ext cx="64004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5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3FB950"/>
                </a:solidFill>
                <a:effectLst/>
                <a:uFillTx/>
                <a:latin typeface="Segoe UI"/>
              </a:rPr>
              <a:t>KernelStore</a:t>
            </a: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 là một sàn TMĐT nơi </a:t>
            </a:r>
            <a:r>
              <a:rPr lang="en-US" sz="1500" b="1" u="none" strike="noStrike">
                <a:solidFill>
                  <a:srgbClr val="58A6FF"/>
                </a:solidFill>
                <a:effectLst/>
                <a:uFillTx/>
                <a:latin typeface="Segoe UI"/>
              </a:rPr>
              <a:t>nhiều nhà bán (seller)</a:t>
            </a: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 cùng mở gian hàng, đăng sản phẩm và bán cho khách — theo mô hình như Shopee / Lazada, nhưng tập trung vào </a:t>
            </a:r>
            <a:r>
              <a:rPr lang="en-US" sz="1500" b="1" u="none" strike="noStrike">
                <a:solidFill>
                  <a:srgbClr val="3FB950"/>
                </a:solidFill>
                <a:effectLst/>
                <a:uFillTx/>
                <a:latin typeface="Segoe UI"/>
              </a:rPr>
              <a:t>hệ sinh thái sản phẩm công nghệ</a:t>
            </a: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 (IoT, AI, Bảo mật, DevOps, Lập trình).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9"/>
          <p:cNvSpPr/>
          <p:nvPr/>
        </p:nvSpPr>
        <p:spPr>
          <a:xfrm>
            <a:off x="658440" y="3383280"/>
            <a:ext cx="5211720" cy="28342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0"/>
          <p:cNvSpPr/>
          <p:nvPr/>
        </p:nvSpPr>
        <p:spPr>
          <a:xfrm>
            <a:off x="658440" y="3383280"/>
            <a:ext cx="82080" cy="2834280"/>
          </a:xfrm>
          <a:prstGeom prst="rect">
            <a:avLst/>
          </a:prstGeom>
          <a:solidFill>
            <a:srgbClr val="E3B3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11"/>
          <p:cNvSpPr/>
          <p:nvPr/>
        </p:nvSpPr>
        <p:spPr>
          <a:xfrm>
            <a:off x="978480" y="361188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E3B341"/>
                </a:solidFill>
                <a:effectLst/>
                <a:uFillTx/>
                <a:latin typeface="Consolas"/>
              </a:rPr>
              <a:t># Vấn đề đặt ra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2"/>
          <p:cNvSpPr/>
          <p:nvPr/>
        </p:nvSpPr>
        <p:spPr>
          <a:xfrm>
            <a:off x="978480" y="4206240"/>
            <a:ext cx="4663080" cy="18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200" b="1" u="none" strike="noStrike">
                <a:solidFill>
                  <a:srgbClr val="E3B341"/>
                </a:solidFill>
                <a:effectLst/>
                <a:uFillTx/>
                <a:latin typeface="Consolas"/>
              </a:rPr>
              <a:t>✗  </a:t>
            </a:r>
            <a:r>
              <a:rPr lang="en-US" sz="130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Người bán nhỏ cần kênh online nhưng thiếu hạ tầng riêng.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200" b="1" u="none" strike="noStrike">
                <a:solidFill>
                  <a:srgbClr val="E3B341"/>
                </a:solidFill>
                <a:effectLst/>
                <a:uFillTx/>
                <a:latin typeface="Consolas"/>
              </a:rPr>
              <a:t>✗  </a:t>
            </a:r>
            <a:r>
              <a:rPr lang="en-US" sz="130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Khách cần một nơi tin cậy, có kiểm duyệt &amp; đánh giá thật.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200" b="1" u="none" strike="noStrike">
                <a:solidFill>
                  <a:srgbClr val="E3B341"/>
                </a:solidFill>
                <a:effectLst/>
                <a:uFillTx/>
                <a:latin typeface="Consolas"/>
              </a:rPr>
              <a:t>✗  </a:t>
            </a:r>
            <a:r>
              <a:rPr lang="en-US" sz="130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Cần quản trị tập trung: duyệt shop, chống gian lận, thống kê.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200" b="1" u="none" strike="noStrike">
                <a:solidFill>
                  <a:srgbClr val="E3B341"/>
                </a:solidFill>
                <a:effectLst/>
                <a:uFillTx/>
                <a:latin typeface="Consolas"/>
              </a:rPr>
              <a:t>✗  </a:t>
            </a:r>
            <a:r>
              <a:rPr lang="en-US" sz="130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Trải nghiệm mua – bán – hỗ trợ phải liền mạch, realtime.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13"/>
          <p:cNvSpPr/>
          <p:nvPr/>
        </p:nvSpPr>
        <p:spPr>
          <a:xfrm>
            <a:off x="6035040" y="3383280"/>
            <a:ext cx="5440320" cy="28342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Rectangle 14"/>
          <p:cNvSpPr/>
          <p:nvPr/>
        </p:nvSpPr>
        <p:spPr>
          <a:xfrm>
            <a:off x="6035040" y="3383280"/>
            <a:ext cx="82080" cy="283428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15"/>
          <p:cNvSpPr/>
          <p:nvPr/>
        </p:nvSpPr>
        <p:spPr>
          <a:xfrm>
            <a:off x="6355080" y="3611880"/>
            <a:ext cx="4891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# Giải pháp KernelStore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6"/>
          <p:cNvSpPr/>
          <p:nvPr/>
        </p:nvSpPr>
        <p:spPr>
          <a:xfrm>
            <a:off x="6355080" y="4206240"/>
            <a:ext cx="4891680" cy="18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2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✓  </a:t>
            </a:r>
            <a:r>
              <a:rPr lang="en-US" sz="130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3 vai trò tách bạch: Khách hàng · Người bán · Quản trị viên.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2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✓  </a:t>
            </a:r>
            <a:r>
              <a:rPr lang="en-US" sz="130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Vòng đời đơn hàng đầy đủ + đánh giá sau khi nhận hàng.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2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✓  </a:t>
            </a:r>
            <a:r>
              <a:rPr lang="en-US" sz="130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Admin duyệt shop, quản lý người dùng, dashboard số liệu.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2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✓  </a:t>
            </a:r>
            <a:r>
              <a:rPr lang="en-US" sz="130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Chat realtime Khách ↔ Người bán qua WebSocket.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Rectangle 2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640080" y="5029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// muc-tieu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4"/>
          <p:cNvSpPr/>
          <p:nvPr/>
        </p:nvSpPr>
        <p:spPr>
          <a:xfrm>
            <a:off x="603360" y="82296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Mục tiêu &amp; Phạm vi đề tài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ectangle 5"/>
          <p:cNvSpPr/>
          <p:nvPr/>
        </p:nvSpPr>
        <p:spPr>
          <a:xfrm>
            <a:off x="658440" y="1481400"/>
            <a:ext cx="1371240" cy="4068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6"/>
          <p:cNvSpPr/>
          <p:nvPr/>
        </p:nvSpPr>
        <p:spPr>
          <a:xfrm>
            <a:off x="10972800" y="635508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03 / 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7"/>
          <p:cNvSpPr/>
          <p:nvPr/>
        </p:nvSpPr>
        <p:spPr>
          <a:xfrm>
            <a:off x="640080" y="63550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KernelStore — Multi-vendor Marketplace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8"/>
          <p:cNvSpPr/>
          <p:nvPr/>
        </p:nvSpPr>
        <p:spPr>
          <a:xfrm>
            <a:off x="658440" y="1828800"/>
            <a:ext cx="3520080" cy="1965600"/>
          </a:xfrm>
          <a:prstGeom prst="roundRect">
            <a:avLst>
              <a:gd name="adj" fmla="val 7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9"/>
          <p:cNvSpPr/>
          <p:nvPr/>
        </p:nvSpPr>
        <p:spPr>
          <a:xfrm>
            <a:off x="932760" y="2030040"/>
            <a:ext cx="1371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01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10"/>
          <p:cNvSpPr/>
          <p:nvPr/>
        </p:nvSpPr>
        <p:spPr>
          <a:xfrm>
            <a:off x="951120" y="2670120"/>
            <a:ext cx="639720" cy="3636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11"/>
          <p:cNvSpPr/>
          <p:nvPr/>
        </p:nvSpPr>
        <p:spPr>
          <a:xfrm>
            <a:off x="932760" y="276156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Sàn đa nhà bán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2"/>
          <p:cNvSpPr/>
          <p:nvPr/>
        </p:nvSpPr>
        <p:spPr>
          <a:xfrm>
            <a:off x="932760" y="312732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Nhiều seller mở shop độc lập, quản lý sản phẩm &amp; đơn của riêng mình.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ounded Rectangle 13"/>
          <p:cNvSpPr/>
          <p:nvPr/>
        </p:nvSpPr>
        <p:spPr>
          <a:xfrm>
            <a:off x="4434840" y="1828800"/>
            <a:ext cx="3520080" cy="1965600"/>
          </a:xfrm>
          <a:prstGeom prst="roundRect">
            <a:avLst>
              <a:gd name="adj" fmla="val 7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14"/>
          <p:cNvSpPr/>
          <p:nvPr/>
        </p:nvSpPr>
        <p:spPr>
          <a:xfrm>
            <a:off x="4709160" y="2030040"/>
            <a:ext cx="1371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02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15"/>
          <p:cNvSpPr/>
          <p:nvPr/>
        </p:nvSpPr>
        <p:spPr>
          <a:xfrm>
            <a:off x="4727520" y="2670120"/>
            <a:ext cx="639720" cy="36360"/>
          </a:xfrm>
          <a:prstGeom prst="rect">
            <a:avLst/>
          </a:prstGeom>
          <a:solidFill>
            <a:srgbClr val="58A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16"/>
          <p:cNvSpPr/>
          <p:nvPr/>
        </p:nvSpPr>
        <p:spPr>
          <a:xfrm>
            <a:off x="4709160" y="276156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Full vòng đời đơn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7"/>
          <p:cNvSpPr/>
          <p:nvPr/>
        </p:nvSpPr>
        <p:spPr>
          <a:xfrm>
            <a:off x="4709160" y="312732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Giỏ hàng → đặt → xử lý → giao → nhận → đánh giá → đổi/trả.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ounded Rectangle 18"/>
          <p:cNvSpPr/>
          <p:nvPr/>
        </p:nvSpPr>
        <p:spPr>
          <a:xfrm>
            <a:off x="8211240" y="1828800"/>
            <a:ext cx="3520080" cy="1965600"/>
          </a:xfrm>
          <a:prstGeom prst="roundRect">
            <a:avLst>
              <a:gd name="adj" fmla="val 7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19"/>
          <p:cNvSpPr/>
          <p:nvPr/>
        </p:nvSpPr>
        <p:spPr>
          <a:xfrm>
            <a:off x="8485560" y="2030040"/>
            <a:ext cx="1371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BC8CFF"/>
                </a:solidFill>
                <a:effectLst/>
                <a:uFillTx/>
                <a:latin typeface="Consolas"/>
              </a:rPr>
              <a:t>03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20"/>
          <p:cNvSpPr/>
          <p:nvPr/>
        </p:nvSpPr>
        <p:spPr>
          <a:xfrm>
            <a:off x="8503920" y="2670120"/>
            <a:ext cx="639720" cy="36360"/>
          </a:xfrm>
          <a:prstGeom prst="rect">
            <a:avLst/>
          </a:prstGeom>
          <a:solidFill>
            <a:srgbClr val="BC8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21"/>
          <p:cNvSpPr/>
          <p:nvPr/>
        </p:nvSpPr>
        <p:spPr>
          <a:xfrm>
            <a:off x="8485560" y="276156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Phân quyền RBAC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2"/>
          <p:cNvSpPr/>
          <p:nvPr/>
        </p:nvSpPr>
        <p:spPr>
          <a:xfrm>
            <a:off x="8485560" y="312732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Customer / Seller / Admin với JWT + refresh token rotation.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23"/>
          <p:cNvSpPr/>
          <p:nvPr/>
        </p:nvSpPr>
        <p:spPr>
          <a:xfrm>
            <a:off x="658440" y="4050720"/>
            <a:ext cx="3520080" cy="1965600"/>
          </a:xfrm>
          <a:prstGeom prst="roundRect">
            <a:avLst>
              <a:gd name="adj" fmla="val 7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24"/>
          <p:cNvSpPr/>
          <p:nvPr/>
        </p:nvSpPr>
        <p:spPr>
          <a:xfrm>
            <a:off x="932760" y="4251960"/>
            <a:ext cx="1371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E3B341"/>
                </a:solidFill>
                <a:effectLst/>
                <a:uFillTx/>
                <a:latin typeface="Consolas"/>
              </a:rPr>
              <a:t>04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ectangle 25"/>
          <p:cNvSpPr/>
          <p:nvPr/>
        </p:nvSpPr>
        <p:spPr>
          <a:xfrm>
            <a:off x="951120" y="4892040"/>
            <a:ext cx="639720" cy="36360"/>
          </a:xfrm>
          <a:prstGeom prst="rect">
            <a:avLst/>
          </a:prstGeom>
          <a:solidFill>
            <a:srgbClr val="E3B3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26"/>
          <p:cNvSpPr/>
          <p:nvPr/>
        </p:nvSpPr>
        <p:spPr>
          <a:xfrm>
            <a:off x="932760" y="498348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Kiểm duyệt &amp; quản trị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27"/>
          <p:cNvSpPr/>
          <p:nvPr/>
        </p:nvSpPr>
        <p:spPr>
          <a:xfrm>
            <a:off x="932760" y="534924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Admin duyệt shop, ban/unban, quản lý danh mục, dashboard.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ounded Rectangle 28"/>
          <p:cNvSpPr/>
          <p:nvPr/>
        </p:nvSpPr>
        <p:spPr>
          <a:xfrm>
            <a:off x="4434840" y="4050720"/>
            <a:ext cx="3520080" cy="1965600"/>
          </a:xfrm>
          <a:prstGeom prst="roundRect">
            <a:avLst>
              <a:gd name="adj" fmla="val 7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29"/>
          <p:cNvSpPr/>
          <p:nvPr/>
        </p:nvSpPr>
        <p:spPr>
          <a:xfrm>
            <a:off x="4709160" y="4251960"/>
            <a:ext cx="1371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05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ectangle 30"/>
          <p:cNvSpPr/>
          <p:nvPr/>
        </p:nvSpPr>
        <p:spPr>
          <a:xfrm>
            <a:off x="4727520" y="4892040"/>
            <a:ext cx="639720" cy="3636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31"/>
          <p:cNvSpPr/>
          <p:nvPr/>
        </p:nvSpPr>
        <p:spPr>
          <a:xfrm>
            <a:off x="4709160" y="498348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Realtime &amp; UX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32"/>
          <p:cNvSpPr/>
          <p:nvPr/>
        </p:nvSpPr>
        <p:spPr>
          <a:xfrm>
            <a:off x="4709160" y="534924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Chat WebSocket, giao diện terminal độc đáo, tìm kiếm gợi ý.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ounded Rectangle 33"/>
          <p:cNvSpPr/>
          <p:nvPr/>
        </p:nvSpPr>
        <p:spPr>
          <a:xfrm>
            <a:off x="8211240" y="4050720"/>
            <a:ext cx="3520080" cy="1965600"/>
          </a:xfrm>
          <a:prstGeom prst="roundRect">
            <a:avLst>
              <a:gd name="adj" fmla="val 7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34"/>
          <p:cNvSpPr/>
          <p:nvPr/>
        </p:nvSpPr>
        <p:spPr>
          <a:xfrm>
            <a:off x="8485560" y="4251960"/>
            <a:ext cx="1371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06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ectangle 35"/>
          <p:cNvSpPr/>
          <p:nvPr/>
        </p:nvSpPr>
        <p:spPr>
          <a:xfrm>
            <a:off x="8503920" y="4892040"/>
            <a:ext cx="639720" cy="36360"/>
          </a:xfrm>
          <a:prstGeom prst="rect">
            <a:avLst/>
          </a:prstGeom>
          <a:solidFill>
            <a:srgbClr val="58A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36"/>
          <p:cNvSpPr/>
          <p:nvPr/>
        </p:nvSpPr>
        <p:spPr>
          <a:xfrm>
            <a:off x="8485560" y="498348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5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Chất lượng &amp; Test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37"/>
          <p:cNvSpPr/>
          <p:nvPr/>
        </p:nvSpPr>
        <p:spPr>
          <a:xfrm>
            <a:off x="8485560" y="534924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276/276 kiểm thử API tự động PASS trên 9 bộ test.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Rectangle 2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3"/>
          <p:cNvSpPr/>
          <p:nvPr/>
        </p:nvSpPr>
        <p:spPr>
          <a:xfrm>
            <a:off x="640080" y="5029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// tech-stack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4"/>
          <p:cNvSpPr/>
          <p:nvPr/>
        </p:nvSpPr>
        <p:spPr>
          <a:xfrm>
            <a:off x="603360" y="82296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Công nghệ sử dụng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5"/>
          <p:cNvSpPr/>
          <p:nvPr/>
        </p:nvSpPr>
        <p:spPr>
          <a:xfrm>
            <a:off x="658440" y="1481400"/>
            <a:ext cx="1371240" cy="4068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6"/>
          <p:cNvSpPr/>
          <p:nvPr/>
        </p:nvSpPr>
        <p:spPr>
          <a:xfrm>
            <a:off x="10972800" y="635508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04 / 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7"/>
          <p:cNvSpPr/>
          <p:nvPr/>
        </p:nvSpPr>
        <p:spPr>
          <a:xfrm>
            <a:off x="640080" y="63550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KernelStore — Multi-vendor Marketplace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ounded Rectangle 8"/>
          <p:cNvSpPr/>
          <p:nvPr/>
        </p:nvSpPr>
        <p:spPr>
          <a:xfrm>
            <a:off x="658440" y="1828800"/>
            <a:ext cx="3520080" cy="420588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Rounded Rectangle 9"/>
          <p:cNvSpPr/>
          <p:nvPr/>
        </p:nvSpPr>
        <p:spPr>
          <a:xfrm>
            <a:off x="658440" y="1828800"/>
            <a:ext cx="3520080" cy="548280"/>
          </a:xfrm>
          <a:prstGeom prst="roundRect">
            <a:avLst>
              <a:gd name="adj" fmla="val 5000"/>
            </a:avLst>
          </a:prstGeom>
          <a:solidFill>
            <a:srgbClr val="1B22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10"/>
          <p:cNvSpPr/>
          <p:nvPr/>
        </p:nvSpPr>
        <p:spPr>
          <a:xfrm>
            <a:off x="658440" y="188352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FRONTEND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Oval 11"/>
          <p:cNvSpPr/>
          <p:nvPr/>
        </p:nvSpPr>
        <p:spPr>
          <a:xfrm>
            <a:off x="951120" y="2688480"/>
            <a:ext cx="109440" cy="109440"/>
          </a:xfrm>
          <a:prstGeom prst="ellipse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12"/>
          <p:cNvSpPr/>
          <p:nvPr/>
        </p:nvSpPr>
        <p:spPr>
          <a:xfrm>
            <a:off x="1207080" y="260604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Rust + Leptos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13"/>
          <p:cNvSpPr/>
          <p:nvPr/>
        </p:nvSpPr>
        <p:spPr>
          <a:xfrm>
            <a:off x="1207080" y="293508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WebAssembly (CSR) — an toàn bộ nhớ, tốc độ cao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Oval 14"/>
          <p:cNvSpPr/>
          <p:nvPr/>
        </p:nvSpPr>
        <p:spPr>
          <a:xfrm>
            <a:off x="951120" y="3529440"/>
            <a:ext cx="109440" cy="109440"/>
          </a:xfrm>
          <a:prstGeom prst="ellipse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15"/>
          <p:cNvSpPr/>
          <p:nvPr/>
        </p:nvSpPr>
        <p:spPr>
          <a:xfrm>
            <a:off x="1207080" y="344736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Trunk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16"/>
          <p:cNvSpPr/>
          <p:nvPr/>
        </p:nvSpPr>
        <p:spPr>
          <a:xfrm>
            <a:off x="1207080" y="377640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Build &amp; hot-reload cho WASM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Oval 17"/>
          <p:cNvSpPr/>
          <p:nvPr/>
        </p:nvSpPr>
        <p:spPr>
          <a:xfrm>
            <a:off x="951120" y="4370760"/>
            <a:ext cx="109440" cy="109440"/>
          </a:xfrm>
          <a:prstGeom prst="ellipse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18"/>
          <p:cNvSpPr/>
          <p:nvPr/>
        </p:nvSpPr>
        <p:spPr>
          <a:xfrm>
            <a:off x="1207080" y="428868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Tailwind CSS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19"/>
          <p:cNvSpPr/>
          <p:nvPr/>
        </p:nvSpPr>
        <p:spPr>
          <a:xfrm>
            <a:off x="1207080" y="46177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Giao diện tiện ích, theme terminal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Oval 20"/>
          <p:cNvSpPr/>
          <p:nvPr/>
        </p:nvSpPr>
        <p:spPr>
          <a:xfrm>
            <a:off x="951120" y="5212080"/>
            <a:ext cx="109440" cy="109440"/>
          </a:xfrm>
          <a:prstGeom prst="ellipse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21"/>
          <p:cNvSpPr/>
          <p:nvPr/>
        </p:nvSpPr>
        <p:spPr>
          <a:xfrm>
            <a:off x="1207080" y="512964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:8080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22"/>
          <p:cNvSpPr/>
          <p:nvPr/>
        </p:nvSpPr>
        <p:spPr>
          <a:xfrm>
            <a:off x="1207080" y="545904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Cổng chạy frontend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ounded Rectangle 23"/>
          <p:cNvSpPr/>
          <p:nvPr/>
        </p:nvSpPr>
        <p:spPr>
          <a:xfrm>
            <a:off x="4434840" y="1828800"/>
            <a:ext cx="3520080" cy="420588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Rounded Rectangle 24"/>
          <p:cNvSpPr/>
          <p:nvPr/>
        </p:nvSpPr>
        <p:spPr>
          <a:xfrm>
            <a:off x="4434840" y="1828800"/>
            <a:ext cx="3520080" cy="548280"/>
          </a:xfrm>
          <a:prstGeom prst="roundRect">
            <a:avLst>
              <a:gd name="adj" fmla="val 5000"/>
            </a:avLst>
          </a:prstGeom>
          <a:solidFill>
            <a:srgbClr val="1B22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25"/>
          <p:cNvSpPr/>
          <p:nvPr/>
        </p:nvSpPr>
        <p:spPr>
          <a:xfrm>
            <a:off x="4434840" y="188352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BACKEND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Oval 26"/>
          <p:cNvSpPr/>
          <p:nvPr/>
        </p:nvSpPr>
        <p:spPr>
          <a:xfrm>
            <a:off x="4727520" y="2688480"/>
            <a:ext cx="109440" cy="109440"/>
          </a:xfrm>
          <a:prstGeom prst="ellipse">
            <a:avLst/>
          </a:prstGeom>
          <a:solidFill>
            <a:srgbClr val="58A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27"/>
          <p:cNvSpPr/>
          <p:nvPr/>
        </p:nvSpPr>
        <p:spPr>
          <a:xfrm>
            <a:off x="4983480" y="260604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ASP.NET Core 10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28"/>
          <p:cNvSpPr/>
          <p:nvPr/>
        </p:nvSpPr>
        <p:spPr>
          <a:xfrm>
            <a:off x="4983480" y="293508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Web API hiệu năng cao (C#)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Oval 29"/>
          <p:cNvSpPr/>
          <p:nvPr/>
        </p:nvSpPr>
        <p:spPr>
          <a:xfrm>
            <a:off x="4727520" y="3529440"/>
            <a:ext cx="109440" cy="109440"/>
          </a:xfrm>
          <a:prstGeom prst="ellipse">
            <a:avLst/>
          </a:prstGeom>
          <a:solidFill>
            <a:srgbClr val="58A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30"/>
          <p:cNvSpPr/>
          <p:nvPr/>
        </p:nvSpPr>
        <p:spPr>
          <a:xfrm>
            <a:off x="4983480" y="344736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EF Core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31"/>
          <p:cNvSpPr/>
          <p:nvPr/>
        </p:nvSpPr>
        <p:spPr>
          <a:xfrm>
            <a:off x="4983480" y="377640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ORM + Migrations code-first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Oval 32"/>
          <p:cNvSpPr/>
          <p:nvPr/>
        </p:nvSpPr>
        <p:spPr>
          <a:xfrm>
            <a:off x="4727520" y="4370760"/>
            <a:ext cx="109440" cy="109440"/>
          </a:xfrm>
          <a:prstGeom prst="ellipse">
            <a:avLst/>
          </a:prstGeom>
          <a:solidFill>
            <a:srgbClr val="58A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33"/>
          <p:cNvSpPr/>
          <p:nvPr/>
        </p:nvSpPr>
        <p:spPr>
          <a:xfrm>
            <a:off x="4983480" y="428868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JWT + Identity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34"/>
          <p:cNvSpPr/>
          <p:nvPr/>
        </p:nvSpPr>
        <p:spPr>
          <a:xfrm>
            <a:off x="4983480" y="46177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Xác thực, phân quyền, refresh rotation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Oval 35"/>
          <p:cNvSpPr/>
          <p:nvPr/>
        </p:nvSpPr>
        <p:spPr>
          <a:xfrm>
            <a:off x="4727520" y="5212080"/>
            <a:ext cx="109440" cy="109440"/>
          </a:xfrm>
          <a:prstGeom prst="ellipse">
            <a:avLst/>
          </a:prstGeom>
          <a:solidFill>
            <a:srgbClr val="58A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36"/>
          <p:cNvSpPr/>
          <p:nvPr/>
        </p:nvSpPr>
        <p:spPr>
          <a:xfrm>
            <a:off x="4983480" y="512964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:5000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37"/>
          <p:cNvSpPr/>
          <p:nvPr/>
        </p:nvSpPr>
        <p:spPr>
          <a:xfrm>
            <a:off x="4983480" y="545904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REST API + WebSocket /chat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ounded Rectangle 38"/>
          <p:cNvSpPr/>
          <p:nvPr/>
        </p:nvSpPr>
        <p:spPr>
          <a:xfrm>
            <a:off x="8211240" y="1828800"/>
            <a:ext cx="3520080" cy="420588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Rounded Rectangle 39"/>
          <p:cNvSpPr/>
          <p:nvPr/>
        </p:nvSpPr>
        <p:spPr>
          <a:xfrm>
            <a:off x="8211240" y="1828800"/>
            <a:ext cx="3520080" cy="548280"/>
          </a:xfrm>
          <a:prstGeom prst="roundRect">
            <a:avLst>
              <a:gd name="adj" fmla="val 5000"/>
            </a:avLst>
          </a:prstGeom>
          <a:solidFill>
            <a:srgbClr val="1B22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40"/>
          <p:cNvSpPr/>
          <p:nvPr/>
        </p:nvSpPr>
        <p:spPr>
          <a:xfrm>
            <a:off x="8211240" y="188352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E3B341"/>
                </a:solidFill>
                <a:effectLst/>
                <a:uFillTx/>
                <a:latin typeface="Consolas"/>
              </a:rPr>
              <a:t>DATABASE / HẠ TẦNG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Oval 41"/>
          <p:cNvSpPr/>
          <p:nvPr/>
        </p:nvSpPr>
        <p:spPr>
          <a:xfrm>
            <a:off x="8503920" y="2688480"/>
            <a:ext cx="109440" cy="109440"/>
          </a:xfrm>
          <a:prstGeom prst="ellipse">
            <a:avLst/>
          </a:prstGeom>
          <a:solidFill>
            <a:srgbClr val="E3B3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42"/>
          <p:cNvSpPr/>
          <p:nvPr/>
        </p:nvSpPr>
        <p:spPr>
          <a:xfrm>
            <a:off x="8759880" y="260604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PostgreSQL 16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43"/>
          <p:cNvSpPr/>
          <p:nvPr/>
        </p:nvSpPr>
        <p:spPr>
          <a:xfrm>
            <a:off x="8759880" y="293508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CSDL quan hệ, chạy trong Docker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Oval 44"/>
          <p:cNvSpPr/>
          <p:nvPr/>
        </p:nvSpPr>
        <p:spPr>
          <a:xfrm>
            <a:off x="8503920" y="3529440"/>
            <a:ext cx="109440" cy="109440"/>
          </a:xfrm>
          <a:prstGeom prst="ellipse">
            <a:avLst/>
          </a:prstGeom>
          <a:solidFill>
            <a:srgbClr val="E3B3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45"/>
          <p:cNvSpPr/>
          <p:nvPr/>
        </p:nvSpPr>
        <p:spPr>
          <a:xfrm>
            <a:off x="8759880" y="344736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Docker Compose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46"/>
          <p:cNvSpPr/>
          <p:nvPr/>
        </p:nvSpPr>
        <p:spPr>
          <a:xfrm>
            <a:off x="8759880" y="377640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Đóng gói môi trường DB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Oval 47"/>
          <p:cNvSpPr/>
          <p:nvPr/>
        </p:nvSpPr>
        <p:spPr>
          <a:xfrm>
            <a:off x="8503920" y="4370760"/>
            <a:ext cx="109440" cy="109440"/>
          </a:xfrm>
          <a:prstGeom prst="ellipse">
            <a:avLst/>
          </a:prstGeom>
          <a:solidFill>
            <a:srgbClr val="E3B3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48"/>
          <p:cNvSpPr/>
          <p:nvPr/>
        </p:nvSpPr>
        <p:spPr>
          <a:xfrm>
            <a:off x="8759880" y="428868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Nix / shell.nix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49"/>
          <p:cNvSpPr/>
          <p:nvPr/>
        </p:nvSpPr>
        <p:spPr>
          <a:xfrm>
            <a:off x="8759880" y="46177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Toolchain tái lập 100%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Oval 50"/>
          <p:cNvSpPr/>
          <p:nvPr/>
        </p:nvSpPr>
        <p:spPr>
          <a:xfrm>
            <a:off x="8503920" y="5212080"/>
            <a:ext cx="109440" cy="109440"/>
          </a:xfrm>
          <a:prstGeom prst="ellipse">
            <a:avLst/>
          </a:prstGeom>
          <a:solidFill>
            <a:srgbClr val="E3B3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51"/>
          <p:cNvSpPr/>
          <p:nvPr/>
        </p:nvSpPr>
        <p:spPr>
          <a:xfrm>
            <a:off x="8759880" y="512964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:5433 → 5432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52"/>
          <p:cNvSpPr/>
          <p:nvPr/>
        </p:nvSpPr>
        <p:spPr>
          <a:xfrm>
            <a:off x="8759880" y="545904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Cổng host → container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Rectangle 2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3"/>
          <p:cNvSpPr/>
          <p:nvPr/>
        </p:nvSpPr>
        <p:spPr>
          <a:xfrm>
            <a:off x="640080" y="5029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// kien-truc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4"/>
          <p:cNvSpPr/>
          <p:nvPr/>
        </p:nvSpPr>
        <p:spPr>
          <a:xfrm>
            <a:off x="603360" y="82296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Kiến trúc hệ thống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5"/>
          <p:cNvSpPr/>
          <p:nvPr/>
        </p:nvSpPr>
        <p:spPr>
          <a:xfrm>
            <a:off x="658440" y="1481400"/>
            <a:ext cx="1371240" cy="4068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6"/>
          <p:cNvSpPr/>
          <p:nvPr/>
        </p:nvSpPr>
        <p:spPr>
          <a:xfrm>
            <a:off x="10972800" y="635508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05 / 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7"/>
          <p:cNvSpPr/>
          <p:nvPr/>
        </p:nvSpPr>
        <p:spPr>
          <a:xfrm>
            <a:off x="640080" y="63550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KernelStore — Multi-vendor Marketplace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ounded Rectangle 8"/>
          <p:cNvSpPr/>
          <p:nvPr/>
        </p:nvSpPr>
        <p:spPr>
          <a:xfrm>
            <a:off x="658440" y="2286000"/>
            <a:ext cx="3245760" cy="22856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3FB9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9"/>
          <p:cNvSpPr/>
          <p:nvPr/>
        </p:nvSpPr>
        <p:spPr>
          <a:xfrm>
            <a:off x="932760" y="2514600"/>
            <a:ext cx="2697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CLIENT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10"/>
          <p:cNvSpPr/>
          <p:nvPr/>
        </p:nvSpPr>
        <p:spPr>
          <a:xfrm>
            <a:off x="932760" y="2853000"/>
            <a:ext cx="2697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Rust + Leptos (WASM)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11"/>
          <p:cNvSpPr/>
          <p:nvPr/>
        </p:nvSpPr>
        <p:spPr>
          <a:xfrm>
            <a:off x="951120" y="3310200"/>
            <a:ext cx="639720" cy="3168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12"/>
          <p:cNvSpPr/>
          <p:nvPr/>
        </p:nvSpPr>
        <p:spPr>
          <a:xfrm>
            <a:off x="951120" y="3429000"/>
            <a:ext cx="2697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• </a:t>
            </a:r>
            <a:r>
              <a:rPr lang="en-US" sz="12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Trình duyệt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• </a:t>
            </a:r>
            <a:r>
              <a:rPr lang="en-US" sz="12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Giao diện SPA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• </a:t>
            </a:r>
            <a:r>
              <a:rPr lang="en-US" sz="12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localStorage session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13"/>
          <p:cNvSpPr/>
          <p:nvPr/>
        </p:nvSpPr>
        <p:spPr>
          <a:xfrm>
            <a:off x="3959280" y="3154680"/>
            <a:ext cx="50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2600" b="1" u="none" strike="noStrike">
                <a:solidFill>
                  <a:srgbClr val="3FB950"/>
                </a:solidFill>
                <a:effectLst/>
                <a:uFillTx/>
                <a:latin typeface="Segoe UI"/>
              </a:rPr>
              <a:t>⇄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ounded Rectangle 14"/>
          <p:cNvSpPr/>
          <p:nvPr/>
        </p:nvSpPr>
        <p:spPr>
          <a:xfrm>
            <a:off x="4407480" y="2286000"/>
            <a:ext cx="3245760" cy="22856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58A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15"/>
          <p:cNvSpPr/>
          <p:nvPr/>
        </p:nvSpPr>
        <p:spPr>
          <a:xfrm>
            <a:off x="4681800" y="2514600"/>
            <a:ext cx="2697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API SERVER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16"/>
          <p:cNvSpPr/>
          <p:nvPr/>
        </p:nvSpPr>
        <p:spPr>
          <a:xfrm>
            <a:off x="4681800" y="2853000"/>
            <a:ext cx="2697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ASP.NET Core 10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ectangle 17"/>
          <p:cNvSpPr/>
          <p:nvPr/>
        </p:nvSpPr>
        <p:spPr>
          <a:xfrm>
            <a:off x="4700160" y="3310200"/>
            <a:ext cx="639720" cy="31680"/>
          </a:xfrm>
          <a:prstGeom prst="rect">
            <a:avLst/>
          </a:prstGeom>
          <a:solidFill>
            <a:srgbClr val="58A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18"/>
          <p:cNvSpPr/>
          <p:nvPr/>
        </p:nvSpPr>
        <p:spPr>
          <a:xfrm>
            <a:off x="4700160" y="3429000"/>
            <a:ext cx="2697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1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• </a:t>
            </a:r>
            <a:r>
              <a:rPr lang="en-US" sz="12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Controllers + Services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1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• </a:t>
            </a:r>
            <a:r>
              <a:rPr lang="en-US" sz="12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JWT Auth · RBAC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1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• </a:t>
            </a:r>
            <a:r>
              <a:rPr lang="en-US" sz="12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WebSocket Chat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19"/>
          <p:cNvSpPr/>
          <p:nvPr/>
        </p:nvSpPr>
        <p:spPr>
          <a:xfrm>
            <a:off x="7708320" y="3154680"/>
            <a:ext cx="50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2600" b="1" u="none" strike="noStrike">
                <a:solidFill>
                  <a:srgbClr val="3FB950"/>
                </a:solidFill>
                <a:effectLst/>
                <a:uFillTx/>
                <a:latin typeface="Segoe UI"/>
              </a:rPr>
              <a:t>⇄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ounded Rectangle 20"/>
          <p:cNvSpPr/>
          <p:nvPr/>
        </p:nvSpPr>
        <p:spPr>
          <a:xfrm>
            <a:off x="8156520" y="2286000"/>
            <a:ext cx="3245760" cy="22856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E3B3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21"/>
          <p:cNvSpPr/>
          <p:nvPr/>
        </p:nvSpPr>
        <p:spPr>
          <a:xfrm>
            <a:off x="8430840" y="2514600"/>
            <a:ext cx="2697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E3B341"/>
                </a:solidFill>
                <a:effectLst/>
                <a:uFillTx/>
                <a:latin typeface="Consolas"/>
              </a:rPr>
              <a:t>DATA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22"/>
          <p:cNvSpPr/>
          <p:nvPr/>
        </p:nvSpPr>
        <p:spPr>
          <a:xfrm>
            <a:off x="8430840" y="2853000"/>
            <a:ext cx="2697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PostgreSQL 16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Rectangle 23"/>
          <p:cNvSpPr/>
          <p:nvPr/>
        </p:nvSpPr>
        <p:spPr>
          <a:xfrm>
            <a:off x="8449200" y="3310200"/>
            <a:ext cx="639720" cy="31680"/>
          </a:xfrm>
          <a:prstGeom prst="rect">
            <a:avLst/>
          </a:prstGeom>
          <a:solidFill>
            <a:srgbClr val="E3B3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24"/>
          <p:cNvSpPr/>
          <p:nvPr/>
        </p:nvSpPr>
        <p:spPr>
          <a:xfrm>
            <a:off x="8449200" y="3429000"/>
            <a:ext cx="2697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1" u="none" strike="noStrike">
                <a:solidFill>
                  <a:srgbClr val="E3B341"/>
                </a:solidFill>
                <a:effectLst/>
                <a:uFillTx/>
                <a:latin typeface="Consolas"/>
              </a:rPr>
              <a:t>• </a:t>
            </a:r>
            <a:r>
              <a:rPr lang="en-US" sz="12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EF Core + Migrations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1" u="none" strike="noStrike">
                <a:solidFill>
                  <a:srgbClr val="E3B341"/>
                </a:solidFill>
                <a:effectLst/>
                <a:uFillTx/>
                <a:latin typeface="Consolas"/>
              </a:rPr>
              <a:t>• </a:t>
            </a:r>
            <a:r>
              <a:rPr lang="en-US" sz="12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10 danh mục · 7 shop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1" u="none" strike="noStrike">
                <a:solidFill>
                  <a:srgbClr val="E3B341"/>
                </a:solidFill>
                <a:effectLst/>
                <a:uFillTx/>
                <a:latin typeface="Consolas"/>
              </a:rPr>
              <a:t>• </a:t>
            </a:r>
            <a:r>
              <a:rPr lang="en-US" sz="12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57 sản phẩm demo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25"/>
          <p:cNvSpPr/>
          <p:nvPr/>
        </p:nvSpPr>
        <p:spPr>
          <a:xfrm>
            <a:off x="3813120" y="4709160"/>
            <a:ext cx="776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HTTPS / JSON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26"/>
          <p:cNvSpPr/>
          <p:nvPr/>
        </p:nvSpPr>
        <p:spPr>
          <a:xfrm>
            <a:off x="7562160" y="4709160"/>
            <a:ext cx="776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TCP / SQL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ounded Rectangle 27"/>
          <p:cNvSpPr/>
          <p:nvPr/>
        </p:nvSpPr>
        <p:spPr>
          <a:xfrm>
            <a:off x="658440" y="5623560"/>
            <a:ext cx="10835280" cy="658080"/>
          </a:xfrm>
          <a:prstGeom prst="roundRect">
            <a:avLst>
              <a:gd name="adj" fmla="val 10000"/>
            </a:avLst>
          </a:prstGeom>
          <a:solidFill>
            <a:srgbClr val="1B222D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28"/>
          <p:cNvSpPr/>
          <p:nvPr/>
        </p:nvSpPr>
        <p:spPr>
          <a:xfrm>
            <a:off x="914400" y="571500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Luồng dữ liệu:  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Người dùng thao tác → Leptos gọi REST API (Bearer JWT) → Controller/Service xử lý nghiệp vụ → EF Core đọc/ghi PostgreSQL → trả JSON ApiResponse. Chat đi qua kênh WebSocket riêng.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Rectangle 2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3"/>
          <p:cNvSpPr/>
          <p:nvPr/>
        </p:nvSpPr>
        <p:spPr>
          <a:xfrm>
            <a:off x="640080" y="5029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// tinh-nang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4"/>
          <p:cNvSpPr/>
          <p:nvPr/>
        </p:nvSpPr>
        <p:spPr>
          <a:xfrm>
            <a:off x="603360" y="82296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Tính năng chính theo 3 vai trò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ectangle 5"/>
          <p:cNvSpPr/>
          <p:nvPr/>
        </p:nvSpPr>
        <p:spPr>
          <a:xfrm>
            <a:off x="658440" y="1481400"/>
            <a:ext cx="1371240" cy="4068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6"/>
          <p:cNvSpPr/>
          <p:nvPr/>
        </p:nvSpPr>
        <p:spPr>
          <a:xfrm>
            <a:off x="10972800" y="635508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06 / 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7"/>
          <p:cNvSpPr/>
          <p:nvPr/>
        </p:nvSpPr>
        <p:spPr>
          <a:xfrm>
            <a:off x="640080" y="63550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KernelStore — Multi-vendor Marketplace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ounded Rectangle 8"/>
          <p:cNvSpPr/>
          <p:nvPr/>
        </p:nvSpPr>
        <p:spPr>
          <a:xfrm>
            <a:off x="658440" y="1828800"/>
            <a:ext cx="3520080" cy="42516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Rounded Rectangle 9"/>
          <p:cNvSpPr/>
          <p:nvPr/>
        </p:nvSpPr>
        <p:spPr>
          <a:xfrm>
            <a:off x="658440" y="1828800"/>
            <a:ext cx="3520080" cy="776880"/>
          </a:xfrm>
          <a:prstGeom prst="roundRect">
            <a:avLst>
              <a:gd name="adj" fmla="val 5000"/>
            </a:avLst>
          </a:prstGeom>
          <a:solidFill>
            <a:srgbClr val="1B22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10"/>
          <p:cNvSpPr/>
          <p:nvPr/>
        </p:nvSpPr>
        <p:spPr>
          <a:xfrm>
            <a:off x="951120" y="193860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3FB950"/>
                </a:solidFill>
                <a:effectLst/>
                <a:uFillTx/>
                <a:latin typeface="Segoe UI"/>
              </a:rPr>
              <a:t>KHÁCH HÀNG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11"/>
          <p:cNvSpPr/>
          <p:nvPr/>
        </p:nvSpPr>
        <p:spPr>
          <a:xfrm>
            <a:off x="951120" y="2286000"/>
            <a:ext cx="2971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role: customer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12"/>
          <p:cNvSpPr/>
          <p:nvPr/>
        </p:nvSpPr>
        <p:spPr>
          <a:xfrm>
            <a:off x="969120" y="2788920"/>
            <a:ext cx="295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2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▸ 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Duyệt / tìm kiếm sản phẩm (gợi ý autocomplete)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2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▸ 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Giỏ hàng, đặt hàng, theo dõi đơn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2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▸ 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Xác nhận nhận hàng · Đổi/trả hàng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2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▸ 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Đánh giá &amp; xếp hạng sau khi nhận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2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▸ 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Chat trực tiếp với người bán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ounded Rectangle 13"/>
          <p:cNvSpPr/>
          <p:nvPr/>
        </p:nvSpPr>
        <p:spPr>
          <a:xfrm>
            <a:off x="4434840" y="1828800"/>
            <a:ext cx="3520080" cy="42516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Rounded Rectangle 14"/>
          <p:cNvSpPr/>
          <p:nvPr/>
        </p:nvSpPr>
        <p:spPr>
          <a:xfrm>
            <a:off x="4434840" y="1828800"/>
            <a:ext cx="3520080" cy="776880"/>
          </a:xfrm>
          <a:prstGeom prst="roundRect">
            <a:avLst>
              <a:gd name="adj" fmla="val 5000"/>
            </a:avLst>
          </a:prstGeom>
          <a:solidFill>
            <a:srgbClr val="1B22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Box 15"/>
          <p:cNvSpPr/>
          <p:nvPr/>
        </p:nvSpPr>
        <p:spPr>
          <a:xfrm>
            <a:off x="4727520" y="193860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58A6FF"/>
                </a:solidFill>
                <a:effectLst/>
                <a:uFillTx/>
                <a:latin typeface="Segoe UI"/>
              </a:rPr>
              <a:t>NGƯỜI BÁN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16"/>
          <p:cNvSpPr/>
          <p:nvPr/>
        </p:nvSpPr>
        <p:spPr>
          <a:xfrm>
            <a:off x="4727520" y="2286000"/>
            <a:ext cx="2971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role: seller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17"/>
          <p:cNvSpPr/>
          <p:nvPr/>
        </p:nvSpPr>
        <p:spPr>
          <a:xfrm>
            <a:off x="4745880" y="2788920"/>
            <a:ext cx="295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200" b="1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▸ 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Mở shop (chờ Admin duyệt)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200" b="1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▸ 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CRUD sản phẩm + upload ảnh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200" b="1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▸ 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Quản lý danh mục riêng của shop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200" b="1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▸ 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Xử lý đơn: xác nhận → giao hàng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200" b="1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▸ 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Dashboard doanh thu &amp; sản phẩm bán chạy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Rounded Rectangle 18"/>
          <p:cNvSpPr/>
          <p:nvPr/>
        </p:nvSpPr>
        <p:spPr>
          <a:xfrm>
            <a:off x="8211240" y="1828800"/>
            <a:ext cx="3520080" cy="42516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Rounded Rectangle 19"/>
          <p:cNvSpPr/>
          <p:nvPr/>
        </p:nvSpPr>
        <p:spPr>
          <a:xfrm>
            <a:off x="8211240" y="1828800"/>
            <a:ext cx="3520080" cy="776880"/>
          </a:xfrm>
          <a:prstGeom prst="roundRect">
            <a:avLst>
              <a:gd name="adj" fmla="val 5000"/>
            </a:avLst>
          </a:prstGeom>
          <a:solidFill>
            <a:srgbClr val="1B22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20"/>
          <p:cNvSpPr/>
          <p:nvPr/>
        </p:nvSpPr>
        <p:spPr>
          <a:xfrm>
            <a:off x="8503920" y="193860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BC8CFF"/>
                </a:solidFill>
                <a:effectLst/>
                <a:uFillTx/>
                <a:latin typeface="Segoe UI"/>
              </a:rPr>
              <a:t>QUẢN TRỊ VIÊN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21"/>
          <p:cNvSpPr/>
          <p:nvPr/>
        </p:nvSpPr>
        <p:spPr>
          <a:xfrm>
            <a:off x="8503920" y="2286000"/>
            <a:ext cx="2971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role: admin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22"/>
          <p:cNvSpPr/>
          <p:nvPr/>
        </p:nvSpPr>
        <p:spPr>
          <a:xfrm>
            <a:off x="8522280" y="2788920"/>
            <a:ext cx="295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200" b="1" u="none" strike="noStrike">
                <a:solidFill>
                  <a:srgbClr val="BC8CFF"/>
                </a:solidFill>
                <a:effectLst/>
                <a:uFillTx/>
                <a:latin typeface="Consolas"/>
              </a:rPr>
              <a:t>▸ 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Duyệt / từ chối shop đăng ký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200" b="1" u="none" strike="noStrike">
                <a:solidFill>
                  <a:srgbClr val="BC8CFF"/>
                </a:solidFill>
                <a:effectLst/>
                <a:uFillTx/>
                <a:latin typeface="Consolas"/>
              </a:rPr>
              <a:t>▸ 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Ban / unban người dùng &amp; shop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200" b="1" u="none" strike="noStrike">
                <a:solidFill>
                  <a:srgbClr val="BC8CFF"/>
                </a:solidFill>
                <a:effectLst/>
                <a:uFillTx/>
                <a:latin typeface="Consolas"/>
              </a:rPr>
              <a:t>▸ 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Quản lý danh mục toàn hệ thống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200" b="1" u="none" strike="noStrike">
                <a:solidFill>
                  <a:srgbClr val="BC8CFF"/>
                </a:solidFill>
                <a:effectLst/>
                <a:uFillTx/>
                <a:latin typeface="Consolas"/>
              </a:rPr>
              <a:t>▸ 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Dashboard: users, shops, đơn, doanh thu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200" b="1" u="none" strike="noStrike">
                <a:solidFill>
                  <a:srgbClr val="BC8CFF"/>
                </a:solidFill>
                <a:effectLst/>
                <a:uFillTx/>
                <a:latin typeface="Consolas"/>
              </a:rPr>
              <a:t>▸ 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Giám sát trạng thái đơn (8 bucket)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Rectangle 2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3"/>
          <p:cNvSpPr/>
          <p:nvPr/>
        </p:nvSpPr>
        <p:spPr>
          <a:xfrm>
            <a:off x="640080" y="5029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// san-pham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4"/>
          <p:cNvSpPr/>
          <p:nvPr/>
        </p:nvSpPr>
        <p:spPr>
          <a:xfrm>
            <a:off x="603360" y="82296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Sản phẩm nổi bật (ảnh thật trong hệ thống)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5"/>
          <p:cNvSpPr/>
          <p:nvPr/>
        </p:nvSpPr>
        <p:spPr>
          <a:xfrm>
            <a:off x="658440" y="1481400"/>
            <a:ext cx="1371240" cy="4068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6"/>
          <p:cNvSpPr/>
          <p:nvPr/>
        </p:nvSpPr>
        <p:spPr>
          <a:xfrm>
            <a:off x="10972800" y="635508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07 / 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7"/>
          <p:cNvSpPr/>
          <p:nvPr/>
        </p:nvSpPr>
        <p:spPr>
          <a:xfrm>
            <a:off x="640080" y="63550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KernelStore — Multi-vendor Marketplace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Rounded Rectangle 8"/>
          <p:cNvSpPr/>
          <p:nvPr/>
        </p:nvSpPr>
        <p:spPr>
          <a:xfrm>
            <a:off x="658440" y="1828800"/>
            <a:ext cx="2541600" cy="2084400"/>
          </a:xfrm>
          <a:prstGeom prst="roundRect">
            <a:avLst>
              <a:gd name="adj" fmla="val 6000"/>
            </a:avLst>
          </a:prstGeom>
          <a:solidFill>
            <a:srgbClr val="1B222D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Rounded Rectangle 9"/>
          <p:cNvSpPr/>
          <p:nvPr/>
        </p:nvSpPr>
        <p:spPr>
          <a:xfrm>
            <a:off x="768240" y="1938600"/>
            <a:ext cx="2322360" cy="1234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43" name="Picture 10" descr="apple-macbook-pro-14-inch-space-grey.jpg"/>
          <p:cNvPicPr/>
          <p:nvPr/>
        </p:nvPicPr>
        <p:blipFill>
          <a:blip r:embed="rId1"/>
          <a:stretch/>
        </p:blipFill>
        <p:spPr>
          <a:xfrm>
            <a:off x="1366920" y="1993320"/>
            <a:ext cx="1124280" cy="112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" name="TextBox 11"/>
          <p:cNvSpPr/>
          <p:nvPr/>
        </p:nvSpPr>
        <p:spPr>
          <a:xfrm>
            <a:off x="804600" y="3246120"/>
            <a:ext cx="2248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95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Apple MacBook Pro 14"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12"/>
          <p:cNvSpPr/>
          <p:nvPr/>
        </p:nvSpPr>
        <p:spPr>
          <a:xfrm>
            <a:off x="804600" y="3602880"/>
            <a:ext cx="224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$1,906.19</a:t>
            </a: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  $1,999.99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ounded Rectangle 13"/>
          <p:cNvSpPr/>
          <p:nvPr/>
        </p:nvSpPr>
        <p:spPr>
          <a:xfrm>
            <a:off x="3420000" y="1828800"/>
            <a:ext cx="2541600" cy="2084400"/>
          </a:xfrm>
          <a:prstGeom prst="roundRect">
            <a:avLst>
              <a:gd name="adj" fmla="val 6000"/>
            </a:avLst>
          </a:prstGeom>
          <a:solidFill>
            <a:srgbClr val="1B222D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Rounded Rectangle 14"/>
          <p:cNvSpPr/>
          <p:nvPr/>
        </p:nvSpPr>
        <p:spPr>
          <a:xfrm>
            <a:off x="3529440" y="1938600"/>
            <a:ext cx="2322360" cy="1234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48" name="Picture 15" descr="nvidia-rtx-4090-24gb.jpg"/>
          <p:cNvPicPr/>
          <p:nvPr/>
        </p:nvPicPr>
        <p:blipFill>
          <a:blip r:embed="rId2"/>
          <a:stretch/>
        </p:blipFill>
        <p:spPr>
          <a:xfrm>
            <a:off x="3691080" y="1993320"/>
            <a:ext cx="1999080" cy="112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9" name="TextBox 16"/>
          <p:cNvSpPr/>
          <p:nvPr/>
        </p:nvSpPr>
        <p:spPr>
          <a:xfrm>
            <a:off x="3566160" y="3246120"/>
            <a:ext cx="2248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95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NVIDIA RTX 4090 24GB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17"/>
          <p:cNvSpPr/>
          <p:nvPr/>
        </p:nvSpPr>
        <p:spPr>
          <a:xfrm>
            <a:off x="3566160" y="3602880"/>
            <a:ext cx="224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$1,699.99</a:t>
            </a: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  $1,799.99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Rounded Rectangle 18"/>
          <p:cNvSpPr/>
          <p:nvPr/>
        </p:nvSpPr>
        <p:spPr>
          <a:xfrm>
            <a:off x="6181200" y="1828800"/>
            <a:ext cx="2541600" cy="2084400"/>
          </a:xfrm>
          <a:prstGeom prst="roundRect">
            <a:avLst>
              <a:gd name="adj" fmla="val 6000"/>
            </a:avLst>
          </a:prstGeom>
          <a:solidFill>
            <a:srgbClr val="1B222D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Rounded Rectangle 19"/>
          <p:cNvSpPr/>
          <p:nvPr/>
        </p:nvSpPr>
        <p:spPr>
          <a:xfrm>
            <a:off x="6291000" y="1938600"/>
            <a:ext cx="2322360" cy="1234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53" name="Picture 20" descr="raspberry-pi-5-8gb.jpg"/>
          <p:cNvPicPr/>
          <p:nvPr/>
        </p:nvPicPr>
        <p:blipFill>
          <a:blip r:embed="rId3"/>
          <a:stretch/>
        </p:blipFill>
        <p:spPr>
          <a:xfrm>
            <a:off x="6692040" y="1993320"/>
            <a:ext cx="1520280" cy="112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4" name="TextBox 21"/>
          <p:cNvSpPr/>
          <p:nvPr/>
        </p:nvSpPr>
        <p:spPr>
          <a:xfrm>
            <a:off x="6327720" y="3246120"/>
            <a:ext cx="2248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95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Raspberry Pi 5 8GB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22"/>
          <p:cNvSpPr/>
          <p:nvPr/>
        </p:nvSpPr>
        <p:spPr>
          <a:xfrm>
            <a:off x="6327720" y="3602880"/>
            <a:ext cx="224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$82.99</a:t>
            </a: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  $89.99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ounded Rectangle 23"/>
          <p:cNvSpPr/>
          <p:nvPr/>
        </p:nvSpPr>
        <p:spPr>
          <a:xfrm>
            <a:off x="8942760" y="1828800"/>
            <a:ext cx="2541600" cy="2084400"/>
          </a:xfrm>
          <a:prstGeom prst="roundRect">
            <a:avLst>
              <a:gd name="adj" fmla="val 6000"/>
            </a:avLst>
          </a:prstGeom>
          <a:solidFill>
            <a:srgbClr val="1B222D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Rounded Rectangle 24"/>
          <p:cNvSpPr/>
          <p:nvPr/>
        </p:nvSpPr>
        <p:spPr>
          <a:xfrm>
            <a:off x="9052560" y="1938600"/>
            <a:ext cx="2322360" cy="1234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58" name="Picture 25" descr="iphone-13-pro.jpg"/>
          <p:cNvPicPr/>
          <p:nvPr/>
        </p:nvPicPr>
        <p:blipFill>
          <a:blip r:embed="rId4"/>
          <a:stretch/>
        </p:blipFill>
        <p:spPr>
          <a:xfrm>
            <a:off x="9651600" y="1993320"/>
            <a:ext cx="1124280" cy="112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TextBox 26"/>
          <p:cNvSpPr/>
          <p:nvPr/>
        </p:nvSpPr>
        <p:spPr>
          <a:xfrm>
            <a:off x="9089280" y="3246120"/>
            <a:ext cx="2248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95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iPhone 13 Pro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27"/>
          <p:cNvSpPr/>
          <p:nvPr/>
        </p:nvSpPr>
        <p:spPr>
          <a:xfrm>
            <a:off x="9089280" y="3602880"/>
            <a:ext cx="224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$999.00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Rounded Rectangle 28"/>
          <p:cNvSpPr/>
          <p:nvPr/>
        </p:nvSpPr>
        <p:spPr>
          <a:xfrm>
            <a:off x="658440" y="4169520"/>
            <a:ext cx="2541600" cy="2084400"/>
          </a:xfrm>
          <a:prstGeom prst="roundRect">
            <a:avLst>
              <a:gd name="adj" fmla="val 6000"/>
            </a:avLst>
          </a:prstGeom>
          <a:solidFill>
            <a:srgbClr val="1B222D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Rounded Rectangle 29"/>
          <p:cNvSpPr/>
          <p:nvPr/>
        </p:nvSpPr>
        <p:spPr>
          <a:xfrm>
            <a:off x="768240" y="4279320"/>
            <a:ext cx="2322360" cy="1234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3" name="Picture 30" descr="flipper-zero.jpg"/>
          <p:cNvPicPr/>
          <p:nvPr/>
        </p:nvPicPr>
        <p:blipFill>
          <a:blip r:embed="rId5"/>
          <a:stretch/>
        </p:blipFill>
        <p:spPr>
          <a:xfrm>
            <a:off x="1022040" y="4334400"/>
            <a:ext cx="1814400" cy="112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" name="TextBox 31"/>
          <p:cNvSpPr/>
          <p:nvPr/>
        </p:nvSpPr>
        <p:spPr>
          <a:xfrm>
            <a:off x="804600" y="5586840"/>
            <a:ext cx="2248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95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Flipper Zero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32"/>
          <p:cNvSpPr/>
          <p:nvPr/>
        </p:nvSpPr>
        <p:spPr>
          <a:xfrm>
            <a:off x="804600" y="5943600"/>
            <a:ext cx="224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$159.99</a:t>
            </a: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  $169.99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Rounded Rectangle 33"/>
          <p:cNvSpPr/>
          <p:nvPr/>
        </p:nvSpPr>
        <p:spPr>
          <a:xfrm>
            <a:off x="3420000" y="4169520"/>
            <a:ext cx="2541600" cy="2084400"/>
          </a:xfrm>
          <a:prstGeom prst="roundRect">
            <a:avLst>
              <a:gd name="adj" fmla="val 6000"/>
            </a:avLst>
          </a:prstGeom>
          <a:solidFill>
            <a:srgbClr val="1B222D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Rounded Rectangle 34"/>
          <p:cNvSpPr/>
          <p:nvPr/>
        </p:nvSpPr>
        <p:spPr>
          <a:xfrm>
            <a:off x="3529440" y="4279320"/>
            <a:ext cx="2322360" cy="1234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8" name="Picture 35" descr="yubikey-5-nfc.jpg"/>
          <p:cNvPicPr/>
          <p:nvPr/>
        </p:nvPicPr>
        <p:blipFill>
          <a:blip r:embed="rId6"/>
          <a:stretch/>
        </p:blipFill>
        <p:spPr>
          <a:xfrm>
            <a:off x="3847320" y="4334400"/>
            <a:ext cx="1686600" cy="112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TextBox 36"/>
          <p:cNvSpPr/>
          <p:nvPr/>
        </p:nvSpPr>
        <p:spPr>
          <a:xfrm>
            <a:off x="3566160" y="5586840"/>
            <a:ext cx="2248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95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YubiKey 5 NFC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37"/>
          <p:cNvSpPr/>
          <p:nvPr/>
        </p:nvSpPr>
        <p:spPr>
          <a:xfrm>
            <a:off x="3566160" y="5943600"/>
            <a:ext cx="224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$49.00</a:t>
            </a: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  $55.00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Rounded Rectangle 38"/>
          <p:cNvSpPr/>
          <p:nvPr/>
        </p:nvSpPr>
        <p:spPr>
          <a:xfrm>
            <a:off x="6181200" y="4169520"/>
            <a:ext cx="2541600" cy="2084400"/>
          </a:xfrm>
          <a:prstGeom prst="roundRect">
            <a:avLst>
              <a:gd name="adj" fmla="val 6000"/>
            </a:avLst>
          </a:prstGeom>
          <a:solidFill>
            <a:srgbClr val="1B222D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Rounded Rectangle 39"/>
          <p:cNvSpPr/>
          <p:nvPr/>
        </p:nvSpPr>
        <p:spPr>
          <a:xfrm>
            <a:off x="6291000" y="4279320"/>
            <a:ext cx="2322360" cy="1234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73" name="Picture 40" descr="keychron-q1-mechanical-keyboard.jpg"/>
          <p:cNvPicPr/>
          <p:nvPr/>
        </p:nvPicPr>
        <p:blipFill>
          <a:blip r:embed="rId7"/>
          <a:stretch/>
        </p:blipFill>
        <p:spPr>
          <a:xfrm>
            <a:off x="6364080" y="4371840"/>
            <a:ext cx="2175840" cy="104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4" name="TextBox 41"/>
          <p:cNvSpPr/>
          <p:nvPr/>
        </p:nvSpPr>
        <p:spPr>
          <a:xfrm>
            <a:off x="6327720" y="5586840"/>
            <a:ext cx="2248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95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Keychron Q1 Keyboard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42"/>
          <p:cNvSpPr/>
          <p:nvPr/>
        </p:nvSpPr>
        <p:spPr>
          <a:xfrm>
            <a:off x="6327720" y="5943600"/>
            <a:ext cx="224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$164.99</a:t>
            </a: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  $179.99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Rounded Rectangle 43"/>
          <p:cNvSpPr/>
          <p:nvPr/>
        </p:nvSpPr>
        <p:spPr>
          <a:xfrm>
            <a:off x="8942760" y="4169520"/>
            <a:ext cx="2541600" cy="2084400"/>
          </a:xfrm>
          <a:prstGeom prst="roundRect">
            <a:avLst>
              <a:gd name="adj" fmla="val 6000"/>
            </a:avLst>
          </a:prstGeom>
          <a:solidFill>
            <a:srgbClr val="1B222D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Rounded Rectangle 44"/>
          <p:cNvSpPr/>
          <p:nvPr/>
        </p:nvSpPr>
        <p:spPr>
          <a:xfrm>
            <a:off x="9052560" y="4279320"/>
            <a:ext cx="2322360" cy="1234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78" name="Picture 45" descr="nvidia-jetson-orin-nano.jpg"/>
          <p:cNvPicPr/>
          <p:nvPr/>
        </p:nvPicPr>
        <p:blipFill>
          <a:blip r:embed="rId8"/>
          <a:stretch/>
        </p:blipFill>
        <p:spPr>
          <a:xfrm>
            <a:off x="9651600" y="4334400"/>
            <a:ext cx="1124280" cy="112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TextBox 46"/>
          <p:cNvSpPr/>
          <p:nvPr/>
        </p:nvSpPr>
        <p:spPr>
          <a:xfrm>
            <a:off x="9089280" y="5586840"/>
            <a:ext cx="2248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95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NVIDIA Jetson Orin Nano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47"/>
          <p:cNvSpPr/>
          <p:nvPr/>
        </p:nvSpPr>
        <p:spPr>
          <a:xfrm>
            <a:off x="9089280" y="5943600"/>
            <a:ext cx="224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$499.00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Rectangle 2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Box 3"/>
          <p:cNvSpPr/>
          <p:nvPr/>
        </p:nvSpPr>
        <p:spPr>
          <a:xfrm>
            <a:off x="640080" y="5029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// chuyen-nganh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4"/>
          <p:cNvSpPr/>
          <p:nvPr/>
        </p:nvSpPr>
        <p:spPr>
          <a:xfrm>
            <a:off x="603360" y="82296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Catalog theo chuyên ngành CNTT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Rectangle 5"/>
          <p:cNvSpPr/>
          <p:nvPr/>
        </p:nvSpPr>
        <p:spPr>
          <a:xfrm>
            <a:off x="658440" y="1481400"/>
            <a:ext cx="1371240" cy="4068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TextBox 6"/>
          <p:cNvSpPr/>
          <p:nvPr/>
        </p:nvSpPr>
        <p:spPr>
          <a:xfrm>
            <a:off x="10972800" y="635508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08 / 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7"/>
          <p:cNvSpPr/>
          <p:nvPr/>
        </p:nvSpPr>
        <p:spPr>
          <a:xfrm>
            <a:off x="640080" y="63550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KernelStore — Multi-vendor Marketplace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8"/>
          <p:cNvSpPr/>
          <p:nvPr/>
        </p:nvSpPr>
        <p:spPr>
          <a:xfrm>
            <a:off x="658440" y="169164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Ngoài nhóm điện tử phổ thông, catalog demo trải theo 5 chuyên ngành — trang chủ có mục </a:t>
            </a:r>
            <a:r>
              <a:rPr lang="en-US" sz="1300" b="1" u="none" strike="noStrike">
                <a:solidFill>
                  <a:srgbClr val="3FB950"/>
                </a:solidFill>
                <a:effectLst/>
                <a:uFillTx/>
                <a:latin typeface="Segoe UI"/>
              </a:rPr>
              <a:t>“Shop by specialization”</a:t>
            </a: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 lọc thẳng tới từng nhóm.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Rounded Rectangle 9"/>
          <p:cNvSpPr/>
          <p:nvPr/>
        </p:nvSpPr>
        <p:spPr>
          <a:xfrm>
            <a:off x="658440" y="2286000"/>
            <a:ext cx="2121120" cy="3565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Rectangle 10"/>
          <p:cNvSpPr/>
          <p:nvPr/>
        </p:nvSpPr>
        <p:spPr>
          <a:xfrm>
            <a:off x="658440" y="2286000"/>
            <a:ext cx="2121120" cy="8208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1" name="Rounded Rectangle 11"/>
          <p:cNvSpPr/>
          <p:nvPr/>
        </p:nvSpPr>
        <p:spPr>
          <a:xfrm>
            <a:off x="786240" y="2505600"/>
            <a:ext cx="1865160" cy="1371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92" name="Picture 12" descr="esp32-devkit-v1.jpg"/>
          <p:cNvPicPr/>
          <p:nvPr/>
        </p:nvPicPr>
        <p:blipFill>
          <a:blip r:embed="rId1"/>
          <a:stretch/>
        </p:blipFill>
        <p:spPr>
          <a:xfrm>
            <a:off x="1106280" y="2578680"/>
            <a:ext cx="1225080" cy="122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TextBox 13"/>
          <p:cNvSpPr/>
          <p:nvPr/>
        </p:nvSpPr>
        <p:spPr>
          <a:xfrm>
            <a:off x="841320" y="3977640"/>
            <a:ext cx="1773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95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IoT &amp; Embedded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14"/>
          <p:cNvSpPr/>
          <p:nvPr/>
        </p:nvSpPr>
        <p:spPr>
          <a:xfrm>
            <a:off x="841320" y="4526280"/>
            <a:ext cx="177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🏪 IoT Depot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15"/>
          <p:cNvSpPr/>
          <p:nvPr/>
        </p:nvSpPr>
        <p:spPr>
          <a:xfrm>
            <a:off x="841320" y="4846320"/>
            <a:ext cx="1773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Raspberry Pi · ESP32 · Arduino · LoRa · Zigbee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Rounded Rectangle 16"/>
          <p:cNvSpPr/>
          <p:nvPr/>
        </p:nvSpPr>
        <p:spPr>
          <a:xfrm>
            <a:off x="2926080" y="2286000"/>
            <a:ext cx="2121120" cy="3565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Rectangle 17"/>
          <p:cNvSpPr/>
          <p:nvPr/>
        </p:nvSpPr>
        <p:spPr>
          <a:xfrm>
            <a:off x="2926080" y="2286000"/>
            <a:ext cx="2121120" cy="82080"/>
          </a:xfrm>
          <a:prstGeom prst="rect">
            <a:avLst/>
          </a:prstGeom>
          <a:solidFill>
            <a:srgbClr val="58A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Rounded Rectangle 18"/>
          <p:cNvSpPr/>
          <p:nvPr/>
        </p:nvSpPr>
        <p:spPr>
          <a:xfrm>
            <a:off x="3054240" y="2505600"/>
            <a:ext cx="1865160" cy="1371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99" name="Picture 19" descr="nvidia-jetson-orin-nano.jpg"/>
          <p:cNvPicPr/>
          <p:nvPr/>
        </p:nvPicPr>
        <p:blipFill>
          <a:blip r:embed="rId2"/>
          <a:stretch/>
        </p:blipFill>
        <p:spPr>
          <a:xfrm>
            <a:off x="3374280" y="2578680"/>
            <a:ext cx="1225080" cy="122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0" name="TextBox 20"/>
          <p:cNvSpPr/>
          <p:nvPr/>
        </p:nvSpPr>
        <p:spPr>
          <a:xfrm>
            <a:off x="3108960" y="3977640"/>
            <a:ext cx="1773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95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AI &amp; Machine Learning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21"/>
          <p:cNvSpPr/>
          <p:nvPr/>
        </p:nvSpPr>
        <p:spPr>
          <a:xfrm>
            <a:off x="3108960" y="4526280"/>
            <a:ext cx="177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🏪 Neural Forge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22"/>
          <p:cNvSpPr/>
          <p:nvPr/>
        </p:nvSpPr>
        <p:spPr>
          <a:xfrm>
            <a:off x="3108960" y="4846320"/>
            <a:ext cx="1773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RTX 4090 · Jetson Orin · Coral · A100 80GB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Rounded Rectangle 23"/>
          <p:cNvSpPr/>
          <p:nvPr/>
        </p:nvSpPr>
        <p:spPr>
          <a:xfrm>
            <a:off x="5193720" y="2286000"/>
            <a:ext cx="2121120" cy="3565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Rectangle 24"/>
          <p:cNvSpPr/>
          <p:nvPr/>
        </p:nvSpPr>
        <p:spPr>
          <a:xfrm>
            <a:off x="5193720" y="2286000"/>
            <a:ext cx="2121120" cy="82080"/>
          </a:xfrm>
          <a:prstGeom prst="rect">
            <a:avLst/>
          </a:prstGeom>
          <a:solidFill>
            <a:srgbClr val="BC8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Rounded Rectangle 25"/>
          <p:cNvSpPr/>
          <p:nvPr/>
        </p:nvSpPr>
        <p:spPr>
          <a:xfrm>
            <a:off x="5321880" y="2505600"/>
            <a:ext cx="1865160" cy="1371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06" name="Picture 26" descr="flipper-zero.jpg"/>
          <p:cNvPicPr/>
          <p:nvPr/>
        </p:nvPicPr>
        <p:blipFill>
          <a:blip r:embed="rId3"/>
          <a:stretch/>
        </p:blipFill>
        <p:spPr>
          <a:xfrm>
            <a:off x="5394960" y="2658600"/>
            <a:ext cx="1718640" cy="106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7" name="TextBox 27"/>
          <p:cNvSpPr/>
          <p:nvPr/>
        </p:nvSpPr>
        <p:spPr>
          <a:xfrm>
            <a:off x="5376600" y="3977640"/>
            <a:ext cx="1773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95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Cybersecurity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28"/>
          <p:cNvSpPr/>
          <p:nvPr/>
        </p:nvSpPr>
        <p:spPr>
          <a:xfrm>
            <a:off x="5376600" y="4526280"/>
            <a:ext cx="177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BC8CFF"/>
                </a:solidFill>
                <a:effectLst/>
                <a:uFillTx/>
                <a:latin typeface="Consolas"/>
              </a:rPr>
              <a:t>🏪 SecOps Armory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29"/>
          <p:cNvSpPr/>
          <p:nvPr/>
        </p:nvSpPr>
        <p:spPr>
          <a:xfrm>
            <a:off x="5376600" y="4846320"/>
            <a:ext cx="1773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YubiKey · Flipper Zero · WiFi Pineapple · Proxmark3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Rounded Rectangle 30"/>
          <p:cNvSpPr/>
          <p:nvPr/>
        </p:nvSpPr>
        <p:spPr>
          <a:xfrm>
            <a:off x="7461360" y="2286000"/>
            <a:ext cx="2121120" cy="3565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1" name="Rectangle 31"/>
          <p:cNvSpPr/>
          <p:nvPr/>
        </p:nvSpPr>
        <p:spPr>
          <a:xfrm>
            <a:off x="7461360" y="2286000"/>
            <a:ext cx="2121120" cy="82080"/>
          </a:xfrm>
          <a:prstGeom prst="rect">
            <a:avLst/>
          </a:prstGeom>
          <a:solidFill>
            <a:srgbClr val="E3B3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Rounded Rectangle 32"/>
          <p:cNvSpPr/>
          <p:nvPr/>
        </p:nvSpPr>
        <p:spPr>
          <a:xfrm>
            <a:off x="7589520" y="2505600"/>
            <a:ext cx="1865160" cy="1371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13" name="Picture 33" descr="ubiquiti-unifi-dream-machine.jpg"/>
          <p:cNvPicPr/>
          <p:nvPr/>
        </p:nvPicPr>
        <p:blipFill>
          <a:blip r:embed="rId4"/>
          <a:stretch/>
        </p:blipFill>
        <p:spPr>
          <a:xfrm>
            <a:off x="7909560" y="2578680"/>
            <a:ext cx="1225080" cy="122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TextBox 34"/>
          <p:cNvSpPr/>
          <p:nvPr/>
        </p:nvSpPr>
        <p:spPr>
          <a:xfrm>
            <a:off x="7644240" y="3977640"/>
            <a:ext cx="1773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95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SysAdmin &amp; DevOps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35"/>
          <p:cNvSpPr/>
          <p:nvPr/>
        </p:nvSpPr>
        <p:spPr>
          <a:xfrm>
            <a:off x="7644240" y="4526280"/>
            <a:ext cx="177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E3B341"/>
                </a:solidFill>
                <a:effectLst/>
                <a:uFillTx/>
                <a:latin typeface="Consolas"/>
              </a:rPr>
              <a:t>🏪 OpsCenter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36"/>
          <p:cNvSpPr/>
          <p:nvPr/>
        </p:nvSpPr>
        <p:spPr>
          <a:xfrm>
            <a:off x="7644240" y="4846320"/>
            <a:ext cx="1773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UniFi · 1U Server · Synology NAS · UPS rack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Rounded Rectangle 37"/>
          <p:cNvSpPr/>
          <p:nvPr/>
        </p:nvSpPr>
        <p:spPr>
          <a:xfrm>
            <a:off x="9729360" y="2286000"/>
            <a:ext cx="2121120" cy="3565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Rectangle 38"/>
          <p:cNvSpPr/>
          <p:nvPr/>
        </p:nvSpPr>
        <p:spPr>
          <a:xfrm>
            <a:off x="9729360" y="2286000"/>
            <a:ext cx="2121120" cy="8208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9" name="Rounded Rectangle 39"/>
          <p:cNvSpPr/>
          <p:nvPr/>
        </p:nvSpPr>
        <p:spPr>
          <a:xfrm>
            <a:off x="9857160" y="2505600"/>
            <a:ext cx="1865160" cy="1371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20" name="Picture 40" descr="keychron-q1-mechanical-keyboard.jpg"/>
          <p:cNvPicPr/>
          <p:nvPr/>
        </p:nvPicPr>
        <p:blipFill>
          <a:blip r:embed="rId5"/>
          <a:stretch/>
        </p:blipFill>
        <p:spPr>
          <a:xfrm>
            <a:off x="9930240" y="2776680"/>
            <a:ext cx="1718640" cy="82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1" name="TextBox 41"/>
          <p:cNvSpPr/>
          <p:nvPr/>
        </p:nvSpPr>
        <p:spPr>
          <a:xfrm>
            <a:off x="9912240" y="3977640"/>
            <a:ext cx="1773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95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Developer Tools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42"/>
          <p:cNvSpPr/>
          <p:nvPr/>
        </p:nvSpPr>
        <p:spPr>
          <a:xfrm>
            <a:off x="9912240" y="4526280"/>
            <a:ext cx="177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🏪 DevTools Hub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43"/>
          <p:cNvSpPr/>
          <p:nvPr/>
        </p:nvSpPr>
        <p:spPr>
          <a:xfrm>
            <a:off x="9912240" y="4846320"/>
            <a:ext cx="1773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Keychron · Màn 4K · Stream Deck · JetBrains/Copilot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5" name="Rectangle 2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6" name="TextBox 3"/>
          <p:cNvSpPr/>
          <p:nvPr/>
        </p:nvSpPr>
        <p:spPr>
          <a:xfrm>
            <a:off x="640080" y="5029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// realtime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4"/>
          <p:cNvSpPr/>
          <p:nvPr/>
        </p:nvSpPr>
        <p:spPr>
          <a:xfrm>
            <a:off x="603360" y="82296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Chat realtime: Khách ↔ Người bán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Rectangle 5"/>
          <p:cNvSpPr/>
          <p:nvPr/>
        </p:nvSpPr>
        <p:spPr>
          <a:xfrm>
            <a:off x="658440" y="1481400"/>
            <a:ext cx="1371240" cy="4068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9" name="TextBox 6"/>
          <p:cNvSpPr/>
          <p:nvPr/>
        </p:nvSpPr>
        <p:spPr>
          <a:xfrm>
            <a:off x="10972800" y="635508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09 / 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7"/>
          <p:cNvSpPr/>
          <p:nvPr/>
        </p:nvSpPr>
        <p:spPr>
          <a:xfrm>
            <a:off x="640080" y="63550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KernelStore — Multi-vendor Marketplace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Rounded Rectangle 8"/>
          <p:cNvSpPr/>
          <p:nvPr/>
        </p:nvSpPr>
        <p:spPr>
          <a:xfrm>
            <a:off x="658440" y="1828800"/>
            <a:ext cx="5028840" cy="41144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2" name="Rectangle 9"/>
          <p:cNvSpPr/>
          <p:nvPr/>
        </p:nvSpPr>
        <p:spPr>
          <a:xfrm>
            <a:off x="658440" y="1828800"/>
            <a:ext cx="82080" cy="4114440"/>
          </a:xfrm>
          <a:prstGeom prst="rect">
            <a:avLst/>
          </a:prstGeom>
          <a:solidFill>
            <a:srgbClr val="58A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TextBox 10"/>
          <p:cNvSpPr/>
          <p:nvPr/>
        </p:nvSpPr>
        <p:spPr>
          <a:xfrm>
            <a:off x="978480" y="2057400"/>
            <a:ext cx="4480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# WebSocket /chat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11"/>
          <p:cNvSpPr/>
          <p:nvPr/>
        </p:nvSpPr>
        <p:spPr>
          <a:xfrm>
            <a:off x="978480" y="2651760"/>
            <a:ext cx="4480200" cy="31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200" b="1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▸  </a:t>
            </a:r>
            <a:r>
              <a:rPr lang="en-US" sz="130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Kết nối 2 chiều realtime qua WebSocket (không polling).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200" b="1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▸  </a:t>
            </a:r>
            <a:r>
              <a:rPr lang="en-US" sz="130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Khách mở hội thoại với shop → seller nhận tin tức thì.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200" b="1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▸  </a:t>
            </a:r>
            <a:r>
              <a:rPr lang="en-US" sz="130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Đẩy tin nhắn tức thời cả 2 phía, đếm tin chưa đọc.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200" b="1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▸  </a:t>
            </a:r>
            <a:r>
              <a:rPr lang="en-US" sz="130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Ràng buộc: tin rỗng / &gt; 2000 ký tự → 400; không phải người tham gia → 403.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700"/>
              </a:spcAft>
            </a:pPr>
            <a:r>
              <a:rPr lang="en-US" sz="1200" b="1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▸  </a:t>
            </a:r>
            <a:r>
              <a:rPr lang="en-US" sz="130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Kiểm thử realtime: 27/27 checks PASS (REST + WS).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Rounded Rectangle 12"/>
          <p:cNvSpPr/>
          <p:nvPr/>
        </p:nvSpPr>
        <p:spPr>
          <a:xfrm>
            <a:off x="5989320" y="1828800"/>
            <a:ext cx="5486040" cy="38376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6" name="Oval 13"/>
          <p:cNvSpPr/>
          <p:nvPr/>
        </p:nvSpPr>
        <p:spPr>
          <a:xfrm>
            <a:off x="6190560" y="1956960"/>
            <a:ext cx="127800" cy="127800"/>
          </a:xfrm>
          <a:prstGeom prst="ellipse">
            <a:avLst/>
          </a:prstGeom>
          <a:solidFill>
            <a:srgbClr val="FF5F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7" name="Oval 14"/>
          <p:cNvSpPr/>
          <p:nvPr/>
        </p:nvSpPr>
        <p:spPr>
          <a:xfrm>
            <a:off x="6391800" y="1956960"/>
            <a:ext cx="127800" cy="127800"/>
          </a:xfrm>
          <a:prstGeom prst="ellipse">
            <a:avLst/>
          </a:prstGeom>
          <a:solidFill>
            <a:srgbClr val="FFBD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8" name="Oval 15"/>
          <p:cNvSpPr/>
          <p:nvPr/>
        </p:nvSpPr>
        <p:spPr>
          <a:xfrm>
            <a:off x="6592680" y="1956960"/>
            <a:ext cx="127800" cy="127800"/>
          </a:xfrm>
          <a:prstGeom prst="ellipse">
            <a:avLst/>
          </a:prstGeom>
          <a:solidFill>
            <a:srgbClr val="27C9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TextBox 16"/>
          <p:cNvSpPr/>
          <p:nvPr/>
        </p:nvSpPr>
        <p:spPr>
          <a:xfrm>
            <a:off x="6858000" y="1856160"/>
            <a:ext cx="4388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chat — customer ↔ TechWorld Store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Rounded Rectangle 17"/>
          <p:cNvSpPr/>
          <p:nvPr/>
        </p:nvSpPr>
        <p:spPr>
          <a:xfrm>
            <a:off x="5989320" y="2212920"/>
            <a:ext cx="5486040" cy="373032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1" name="Rounded Rectangle 18"/>
          <p:cNvSpPr/>
          <p:nvPr/>
        </p:nvSpPr>
        <p:spPr>
          <a:xfrm>
            <a:off x="6263640" y="2423160"/>
            <a:ext cx="3413880" cy="566640"/>
          </a:xfrm>
          <a:prstGeom prst="roundRect">
            <a:avLst>
              <a:gd name="adj" fmla="val 25000"/>
            </a:avLst>
          </a:prstGeom>
          <a:solidFill>
            <a:srgbClr val="1B222D"/>
          </a:solidFill>
          <a:ln w="12700">
            <a:solidFill>
              <a:srgbClr val="58A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2" name="TextBox 19"/>
          <p:cNvSpPr/>
          <p:nvPr/>
        </p:nvSpPr>
        <p:spPr>
          <a:xfrm>
            <a:off x="6446520" y="2477880"/>
            <a:ext cx="304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95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Chào shop, RTX 4090 còn hàng không ạ?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Rounded Rectangle 20"/>
          <p:cNvSpPr/>
          <p:nvPr/>
        </p:nvSpPr>
        <p:spPr>
          <a:xfrm>
            <a:off x="7337160" y="3136320"/>
            <a:ext cx="3863880" cy="566640"/>
          </a:xfrm>
          <a:prstGeom prst="roundRect">
            <a:avLst>
              <a:gd name="adj" fmla="val 25000"/>
            </a:avLst>
          </a:prstGeom>
          <a:solidFill>
            <a:srgbClr val="142A1B"/>
          </a:solidFill>
          <a:ln w="12700">
            <a:solidFill>
              <a:srgbClr val="3FB9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4" name="TextBox 21"/>
          <p:cNvSpPr/>
          <p:nvPr/>
        </p:nvSpPr>
        <p:spPr>
          <a:xfrm>
            <a:off x="7520040" y="3191400"/>
            <a:ext cx="34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95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Dạ còn bạn nhé, đang có giảm còn $1,699.99.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Rounded Rectangle 22"/>
          <p:cNvSpPr/>
          <p:nvPr/>
        </p:nvSpPr>
        <p:spPr>
          <a:xfrm>
            <a:off x="6263640" y="3849480"/>
            <a:ext cx="2589120" cy="566640"/>
          </a:xfrm>
          <a:prstGeom prst="roundRect">
            <a:avLst>
              <a:gd name="adj" fmla="val 25000"/>
            </a:avLst>
          </a:prstGeom>
          <a:solidFill>
            <a:srgbClr val="1B222D"/>
          </a:solidFill>
          <a:ln w="12700">
            <a:solidFill>
              <a:srgbClr val="58A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6" name="TextBox 23"/>
          <p:cNvSpPr/>
          <p:nvPr/>
        </p:nvSpPr>
        <p:spPr>
          <a:xfrm>
            <a:off x="6446520" y="3904560"/>
            <a:ext cx="2223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95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Bảo hành bao lâu vậy shop?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Rounded Rectangle 24"/>
          <p:cNvSpPr/>
          <p:nvPr/>
        </p:nvSpPr>
        <p:spPr>
          <a:xfrm>
            <a:off x="7269480" y="4563000"/>
            <a:ext cx="3931560" cy="566640"/>
          </a:xfrm>
          <a:prstGeom prst="roundRect">
            <a:avLst>
              <a:gd name="adj" fmla="val 25000"/>
            </a:avLst>
          </a:prstGeom>
          <a:solidFill>
            <a:srgbClr val="142A1B"/>
          </a:solidFill>
          <a:ln w="12700">
            <a:solidFill>
              <a:srgbClr val="3FB9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TextBox 25"/>
          <p:cNvSpPr/>
          <p:nvPr/>
        </p:nvSpPr>
        <p:spPr>
          <a:xfrm>
            <a:off x="7452360" y="461772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95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Chính hãng 36 tháng, 1 đổi 1 trong 30 ngày đầu ✔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Rounded Rectangle 26"/>
          <p:cNvSpPr/>
          <p:nvPr/>
        </p:nvSpPr>
        <p:spPr>
          <a:xfrm>
            <a:off x="6263640" y="5349240"/>
            <a:ext cx="4937400" cy="383760"/>
          </a:xfrm>
          <a:prstGeom prst="roundRect">
            <a:avLst>
              <a:gd name="adj" fmla="val 40000"/>
            </a:avLst>
          </a:prstGeom>
          <a:solidFill>
            <a:srgbClr val="1B222D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0" name="TextBox 27"/>
          <p:cNvSpPr/>
          <p:nvPr/>
        </p:nvSpPr>
        <p:spPr>
          <a:xfrm>
            <a:off x="6446520" y="5376600"/>
            <a:ext cx="4388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Nhập tin nhắn…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2" name="Rectangle 2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3" name="TextBox 3"/>
          <p:cNvSpPr/>
          <p:nvPr/>
        </p:nvSpPr>
        <p:spPr>
          <a:xfrm>
            <a:off x="640080" y="5029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// database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4"/>
          <p:cNvSpPr/>
          <p:nvPr/>
        </p:nvSpPr>
        <p:spPr>
          <a:xfrm>
            <a:off x="603360" y="82296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Cơ sở dữ liệu (PostgreSQL 16)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Rectangle 5"/>
          <p:cNvSpPr/>
          <p:nvPr/>
        </p:nvSpPr>
        <p:spPr>
          <a:xfrm>
            <a:off x="658440" y="1481400"/>
            <a:ext cx="1371240" cy="4068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6" name="TextBox 6"/>
          <p:cNvSpPr/>
          <p:nvPr/>
        </p:nvSpPr>
        <p:spPr>
          <a:xfrm>
            <a:off x="10972800" y="635508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10 / 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Box 7"/>
          <p:cNvSpPr/>
          <p:nvPr/>
        </p:nvSpPr>
        <p:spPr>
          <a:xfrm>
            <a:off x="640080" y="63550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KernelStore — Multi-vendor Marketplace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8"/>
          <p:cNvSpPr/>
          <p:nvPr/>
        </p:nvSpPr>
        <p:spPr>
          <a:xfrm>
            <a:off x="658440" y="173736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Thiết kế code-first bằng EF Core · file </a:t>
            </a:r>
            <a:r>
              <a:rPr lang="en-US" sz="13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database.sql</a:t>
            </a: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 chứa full schema + dữ liệu (nộp kèm).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Rounded Rectangle 9"/>
          <p:cNvSpPr/>
          <p:nvPr/>
        </p:nvSpPr>
        <p:spPr>
          <a:xfrm>
            <a:off x="658440" y="2331720"/>
            <a:ext cx="2605680" cy="8683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0" name="Rectangle 10"/>
          <p:cNvSpPr/>
          <p:nvPr/>
        </p:nvSpPr>
        <p:spPr>
          <a:xfrm>
            <a:off x="658440" y="2331720"/>
            <a:ext cx="72720" cy="86832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1" name="TextBox 11"/>
          <p:cNvSpPr/>
          <p:nvPr/>
        </p:nvSpPr>
        <p:spPr>
          <a:xfrm>
            <a:off x="914400" y="245052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50" b="1" u="none" strike="noStrike">
                <a:solidFill>
                  <a:srgbClr val="E6EDF3"/>
                </a:solidFill>
                <a:effectLst/>
                <a:uFillTx/>
                <a:latin typeface="Consolas"/>
              </a:rPr>
              <a:t>ApplicationUser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Box 12"/>
          <p:cNvSpPr/>
          <p:nvPr/>
        </p:nvSpPr>
        <p:spPr>
          <a:xfrm>
            <a:off x="914400" y="278892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Người dùng + roles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Rounded Rectangle 13"/>
          <p:cNvSpPr/>
          <p:nvPr/>
        </p:nvSpPr>
        <p:spPr>
          <a:xfrm>
            <a:off x="3465720" y="2331720"/>
            <a:ext cx="2605680" cy="8683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4" name="Rectangle 14"/>
          <p:cNvSpPr/>
          <p:nvPr/>
        </p:nvSpPr>
        <p:spPr>
          <a:xfrm>
            <a:off x="3465720" y="2331720"/>
            <a:ext cx="72720" cy="868320"/>
          </a:xfrm>
          <a:prstGeom prst="rect">
            <a:avLst/>
          </a:prstGeom>
          <a:solidFill>
            <a:srgbClr val="58A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5" name="TextBox 15"/>
          <p:cNvSpPr/>
          <p:nvPr/>
        </p:nvSpPr>
        <p:spPr>
          <a:xfrm>
            <a:off x="3721680" y="245052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50" b="1" u="none" strike="noStrike">
                <a:solidFill>
                  <a:srgbClr val="E6EDF3"/>
                </a:solidFill>
                <a:effectLst/>
                <a:uFillTx/>
                <a:latin typeface="Consolas"/>
              </a:rPr>
              <a:t>Shop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Box 16"/>
          <p:cNvSpPr/>
          <p:nvPr/>
        </p:nvSpPr>
        <p:spPr>
          <a:xfrm>
            <a:off x="3721680" y="278892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Gian hàng của seller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Rounded Rectangle 17"/>
          <p:cNvSpPr/>
          <p:nvPr/>
        </p:nvSpPr>
        <p:spPr>
          <a:xfrm>
            <a:off x="6272640" y="2331720"/>
            <a:ext cx="2605680" cy="8683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8" name="Rectangle 18"/>
          <p:cNvSpPr/>
          <p:nvPr/>
        </p:nvSpPr>
        <p:spPr>
          <a:xfrm>
            <a:off x="6272640" y="2331720"/>
            <a:ext cx="72720" cy="868320"/>
          </a:xfrm>
          <a:prstGeom prst="rect">
            <a:avLst/>
          </a:prstGeom>
          <a:solidFill>
            <a:srgbClr val="E3B3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9" name="TextBox 19"/>
          <p:cNvSpPr/>
          <p:nvPr/>
        </p:nvSpPr>
        <p:spPr>
          <a:xfrm>
            <a:off x="6528960" y="245052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50" b="1" u="none" strike="noStrike">
                <a:solidFill>
                  <a:srgbClr val="E6EDF3"/>
                </a:solidFill>
                <a:effectLst/>
                <a:uFillTx/>
                <a:latin typeface="Consolas"/>
              </a:rPr>
              <a:t>Category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Box 20"/>
          <p:cNvSpPr/>
          <p:nvPr/>
        </p:nvSpPr>
        <p:spPr>
          <a:xfrm>
            <a:off x="6528960" y="278892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Danh mục (dạng cây)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Rounded Rectangle 21"/>
          <p:cNvSpPr/>
          <p:nvPr/>
        </p:nvSpPr>
        <p:spPr>
          <a:xfrm>
            <a:off x="9079920" y="2331720"/>
            <a:ext cx="2605680" cy="8683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2" name="Rectangle 22"/>
          <p:cNvSpPr/>
          <p:nvPr/>
        </p:nvSpPr>
        <p:spPr>
          <a:xfrm>
            <a:off x="9079920" y="2331720"/>
            <a:ext cx="72720" cy="86832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3" name="TextBox 23"/>
          <p:cNvSpPr/>
          <p:nvPr/>
        </p:nvSpPr>
        <p:spPr>
          <a:xfrm>
            <a:off x="9335880" y="245052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50" b="1" u="none" strike="noStrike">
                <a:solidFill>
                  <a:srgbClr val="E6EDF3"/>
                </a:solidFill>
                <a:effectLst/>
                <a:uFillTx/>
                <a:latin typeface="Consolas"/>
              </a:rPr>
              <a:t>Product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Box 24"/>
          <p:cNvSpPr/>
          <p:nvPr/>
        </p:nvSpPr>
        <p:spPr>
          <a:xfrm>
            <a:off x="9335880" y="278892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Sản phẩm + giá/sale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Rounded Rectangle 25"/>
          <p:cNvSpPr/>
          <p:nvPr/>
        </p:nvSpPr>
        <p:spPr>
          <a:xfrm>
            <a:off x="658440" y="3401640"/>
            <a:ext cx="2605680" cy="8683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6" name="Rectangle 26"/>
          <p:cNvSpPr/>
          <p:nvPr/>
        </p:nvSpPr>
        <p:spPr>
          <a:xfrm>
            <a:off x="658440" y="3401640"/>
            <a:ext cx="72720" cy="868320"/>
          </a:xfrm>
          <a:prstGeom prst="rect">
            <a:avLst/>
          </a:prstGeom>
          <a:solidFill>
            <a:srgbClr val="58A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7" name="TextBox 27"/>
          <p:cNvSpPr/>
          <p:nvPr/>
        </p:nvSpPr>
        <p:spPr>
          <a:xfrm>
            <a:off x="914400" y="352044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50" b="1" u="none" strike="noStrike">
                <a:solidFill>
                  <a:srgbClr val="E6EDF3"/>
                </a:solidFill>
                <a:effectLst/>
                <a:uFillTx/>
                <a:latin typeface="Consolas"/>
              </a:rPr>
              <a:t>ProductImage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Box 28"/>
          <p:cNvSpPr/>
          <p:nvPr/>
        </p:nvSpPr>
        <p:spPr>
          <a:xfrm>
            <a:off x="914400" y="385884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Ảnh sản phẩm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Rounded Rectangle 29"/>
          <p:cNvSpPr/>
          <p:nvPr/>
        </p:nvSpPr>
        <p:spPr>
          <a:xfrm>
            <a:off x="3465720" y="3401640"/>
            <a:ext cx="2605680" cy="8683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0" name="Rectangle 30"/>
          <p:cNvSpPr/>
          <p:nvPr/>
        </p:nvSpPr>
        <p:spPr>
          <a:xfrm>
            <a:off x="3465720" y="3401640"/>
            <a:ext cx="72720" cy="868320"/>
          </a:xfrm>
          <a:prstGeom prst="rect">
            <a:avLst/>
          </a:prstGeom>
          <a:solidFill>
            <a:srgbClr val="BC8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" name="TextBox 31"/>
          <p:cNvSpPr/>
          <p:nvPr/>
        </p:nvSpPr>
        <p:spPr>
          <a:xfrm>
            <a:off x="3721680" y="352044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50" b="1" u="none" strike="noStrike">
                <a:solidFill>
                  <a:srgbClr val="E6EDF3"/>
                </a:solidFill>
                <a:effectLst/>
                <a:uFillTx/>
                <a:latin typeface="Consolas"/>
              </a:rPr>
              <a:t>CartItem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32"/>
          <p:cNvSpPr/>
          <p:nvPr/>
        </p:nvSpPr>
        <p:spPr>
          <a:xfrm>
            <a:off x="3721680" y="385884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Giỏ hàng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Rounded Rectangle 33"/>
          <p:cNvSpPr/>
          <p:nvPr/>
        </p:nvSpPr>
        <p:spPr>
          <a:xfrm>
            <a:off x="6272640" y="3401640"/>
            <a:ext cx="2605680" cy="8683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4" name="Rectangle 34"/>
          <p:cNvSpPr/>
          <p:nvPr/>
        </p:nvSpPr>
        <p:spPr>
          <a:xfrm>
            <a:off x="6272640" y="3401640"/>
            <a:ext cx="72720" cy="868320"/>
          </a:xfrm>
          <a:prstGeom prst="rect">
            <a:avLst/>
          </a:prstGeom>
          <a:solidFill>
            <a:srgbClr val="E3B3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5" name="TextBox 35"/>
          <p:cNvSpPr/>
          <p:nvPr/>
        </p:nvSpPr>
        <p:spPr>
          <a:xfrm>
            <a:off x="6528960" y="352044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50" b="1" u="none" strike="noStrike">
                <a:solidFill>
                  <a:srgbClr val="E6EDF3"/>
                </a:solidFill>
                <a:effectLst/>
                <a:uFillTx/>
                <a:latin typeface="Consolas"/>
              </a:rPr>
              <a:t>Order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36"/>
          <p:cNvSpPr/>
          <p:nvPr/>
        </p:nvSpPr>
        <p:spPr>
          <a:xfrm>
            <a:off x="6528960" y="385884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Đơn hàng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Rounded Rectangle 37"/>
          <p:cNvSpPr/>
          <p:nvPr/>
        </p:nvSpPr>
        <p:spPr>
          <a:xfrm>
            <a:off x="9079920" y="3401640"/>
            <a:ext cx="2605680" cy="8683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8" name="Rectangle 38"/>
          <p:cNvSpPr/>
          <p:nvPr/>
        </p:nvSpPr>
        <p:spPr>
          <a:xfrm>
            <a:off x="9079920" y="3401640"/>
            <a:ext cx="72720" cy="86832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9" name="TextBox 39"/>
          <p:cNvSpPr/>
          <p:nvPr/>
        </p:nvSpPr>
        <p:spPr>
          <a:xfrm>
            <a:off x="9335880" y="352044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50" b="1" u="none" strike="noStrike">
                <a:solidFill>
                  <a:srgbClr val="E6EDF3"/>
                </a:solidFill>
                <a:effectLst/>
                <a:uFillTx/>
                <a:latin typeface="Consolas"/>
              </a:rPr>
              <a:t>OrderDetail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40"/>
          <p:cNvSpPr/>
          <p:nvPr/>
        </p:nvSpPr>
        <p:spPr>
          <a:xfrm>
            <a:off x="9335880" y="385884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Chi tiết đơn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Rounded Rectangle 41"/>
          <p:cNvSpPr/>
          <p:nvPr/>
        </p:nvSpPr>
        <p:spPr>
          <a:xfrm>
            <a:off x="658440" y="4471560"/>
            <a:ext cx="2605680" cy="8683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2" name="Rectangle 42"/>
          <p:cNvSpPr/>
          <p:nvPr/>
        </p:nvSpPr>
        <p:spPr>
          <a:xfrm>
            <a:off x="658440" y="4471560"/>
            <a:ext cx="72720" cy="868320"/>
          </a:xfrm>
          <a:prstGeom prst="rect">
            <a:avLst/>
          </a:prstGeom>
          <a:solidFill>
            <a:srgbClr val="58A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3" name="TextBox 43"/>
          <p:cNvSpPr/>
          <p:nvPr/>
        </p:nvSpPr>
        <p:spPr>
          <a:xfrm>
            <a:off x="914400" y="459036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50" b="1" u="none" strike="noStrike">
                <a:solidFill>
                  <a:srgbClr val="E6EDF3"/>
                </a:solidFill>
                <a:effectLst/>
                <a:uFillTx/>
                <a:latin typeface="Consolas"/>
              </a:rPr>
              <a:t>Review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Box 44"/>
          <p:cNvSpPr/>
          <p:nvPr/>
        </p:nvSpPr>
        <p:spPr>
          <a:xfrm>
            <a:off x="914400" y="492876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Đánh giá &amp; sao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Rounded Rectangle 45"/>
          <p:cNvSpPr/>
          <p:nvPr/>
        </p:nvSpPr>
        <p:spPr>
          <a:xfrm>
            <a:off x="3465720" y="4471560"/>
            <a:ext cx="2605680" cy="8683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6" name="Rectangle 46"/>
          <p:cNvSpPr/>
          <p:nvPr/>
        </p:nvSpPr>
        <p:spPr>
          <a:xfrm>
            <a:off x="3465720" y="4471560"/>
            <a:ext cx="72720" cy="868320"/>
          </a:xfrm>
          <a:prstGeom prst="rect">
            <a:avLst/>
          </a:prstGeom>
          <a:solidFill>
            <a:srgbClr val="BC8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7" name="TextBox 47"/>
          <p:cNvSpPr/>
          <p:nvPr/>
        </p:nvSpPr>
        <p:spPr>
          <a:xfrm>
            <a:off x="3721680" y="459036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50" b="1" u="none" strike="noStrike">
                <a:solidFill>
                  <a:srgbClr val="E6EDF3"/>
                </a:solidFill>
                <a:effectLst/>
                <a:uFillTx/>
                <a:latin typeface="Consolas"/>
              </a:rPr>
              <a:t>Conversation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48"/>
          <p:cNvSpPr/>
          <p:nvPr/>
        </p:nvSpPr>
        <p:spPr>
          <a:xfrm>
            <a:off x="3721680" y="492876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Hội thoại chat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Rounded Rectangle 49"/>
          <p:cNvSpPr/>
          <p:nvPr/>
        </p:nvSpPr>
        <p:spPr>
          <a:xfrm>
            <a:off x="6272640" y="4471560"/>
            <a:ext cx="2605680" cy="8683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0" name="Rectangle 50"/>
          <p:cNvSpPr/>
          <p:nvPr/>
        </p:nvSpPr>
        <p:spPr>
          <a:xfrm>
            <a:off x="6272640" y="4471560"/>
            <a:ext cx="72720" cy="86832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1" name="TextBox 51"/>
          <p:cNvSpPr/>
          <p:nvPr/>
        </p:nvSpPr>
        <p:spPr>
          <a:xfrm>
            <a:off x="6528960" y="459036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50" b="1" u="none" strike="noStrike">
                <a:solidFill>
                  <a:srgbClr val="E6EDF3"/>
                </a:solidFill>
                <a:effectLst/>
                <a:uFillTx/>
                <a:latin typeface="Consolas"/>
              </a:rPr>
              <a:t>ChatMessage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Box 52"/>
          <p:cNvSpPr/>
          <p:nvPr/>
        </p:nvSpPr>
        <p:spPr>
          <a:xfrm>
            <a:off x="6528960" y="492876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Tin nhắn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Rounded Rectangle 53"/>
          <p:cNvSpPr/>
          <p:nvPr/>
        </p:nvSpPr>
        <p:spPr>
          <a:xfrm>
            <a:off x="9079920" y="4471560"/>
            <a:ext cx="2605680" cy="8683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4" name="Rectangle 54"/>
          <p:cNvSpPr/>
          <p:nvPr/>
        </p:nvSpPr>
        <p:spPr>
          <a:xfrm>
            <a:off x="9079920" y="4471560"/>
            <a:ext cx="72720" cy="868320"/>
          </a:xfrm>
          <a:prstGeom prst="rect">
            <a:avLst/>
          </a:prstGeom>
          <a:solidFill>
            <a:srgbClr val="58A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5" name="TextBox 55"/>
          <p:cNvSpPr/>
          <p:nvPr/>
        </p:nvSpPr>
        <p:spPr>
          <a:xfrm>
            <a:off x="9335880" y="459036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50" b="1" u="none" strike="noStrike">
                <a:solidFill>
                  <a:srgbClr val="E6EDF3"/>
                </a:solidFill>
                <a:effectLst/>
                <a:uFillTx/>
                <a:latin typeface="Consolas"/>
              </a:rPr>
              <a:t>RefreshToken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Box 56"/>
          <p:cNvSpPr/>
          <p:nvPr/>
        </p:nvSpPr>
        <p:spPr>
          <a:xfrm>
            <a:off x="9335880" y="492876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Token làm mới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Rounded Rectangle 57"/>
          <p:cNvSpPr/>
          <p:nvPr/>
        </p:nvSpPr>
        <p:spPr>
          <a:xfrm>
            <a:off x="658440" y="5532120"/>
            <a:ext cx="10835280" cy="548280"/>
          </a:xfrm>
          <a:prstGeom prst="roundRect">
            <a:avLst>
              <a:gd name="adj" fmla="val 12000"/>
            </a:avLst>
          </a:prstGeom>
          <a:solidFill>
            <a:srgbClr val="1B222D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8" name="TextBox 58"/>
          <p:cNvSpPr/>
          <p:nvPr/>
        </p:nvSpPr>
        <p:spPr>
          <a:xfrm>
            <a:off x="1005840" y="5586840"/>
            <a:ext cx="2102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8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12+ 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bảng dữ liệu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Box 59"/>
          <p:cNvSpPr/>
          <p:nvPr/>
        </p:nvSpPr>
        <p:spPr>
          <a:xfrm>
            <a:off x="3154680" y="5586840"/>
            <a:ext cx="2102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8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4 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migrations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Box 60"/>
          <p:cNvSpPr/>
          <p:nvPr/>
        </p:nvSpPr>
        <p:spPr>
          <a:xfrm>
            <a:off x="5303520" y="5586840"/>
            <a:ext cx="2102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8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10 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danh mục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Box 61"/>
          <p:cNvSpPr/>
          <p:nvPr/>
        </p:nvSpPr>
        <p:spPr>
          <a:xfrm>
            <a:off x="7452360" y="5586840"/>
            <a:ext cx="2102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8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7 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shop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62"/>
          <p:cNvSpPr/>
          <p:nvPr/>
        </p:nvSpPr>
        <p:spPr>
          <a:xfrm>
            <a:off x="9601200" y="5586840"/>
            <a:ext cx="2102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8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57 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sản phẩm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4" name="Rectangle 2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5" name="TextBox 3"/>
          <p:cNvSpPr/>
          <p:nvPr/>
        </p:nvSpPr>
        <p:spPr>
          <a:xfrm>
            <a:off x="640080" y="5029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// bao-mat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4"/>
          <p:cNvSpPr/>
          <p:nvPr/>
        </p:nvSpPr>
        <p:spPr>
          <a:xfrm>
            <a:off x="603360" y="82296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Bảo mật &amp; Phân quyền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Rectangle 5"/>
          <p:cNvSpPr/>
          <p:nvPr/>
        </p:nvSpPr>
        <p:spPr>
          <a:xfrm>
            <a:off x="658440" y="1481400"/>
            <a:ext cx="1371240" cy="4068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" name="TextBox 6"/>
          <p:cNvSpPr/>
          <p:nvPr/>
        </p:nvSpPr>
        <p:spPr>
          <a:xfrm>
            <a:off x="10972800" y="635508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11 / 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Box 7"/>
          <p:cNvSpPr/>
          <p:nvPr/>
        </p:nvSpPr>
        <p:spPr>
          <a:xfrm>
            <a:off x="640080" y="63550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KernelStore — Multi-vendor Marketplace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Rounded Rectangle 8"/>
          <p:cNvSpPr/>
          <p:nvPr/>
        </p:nvSpPr>
        <p:spPr>
          <a:xfrm>
            <a:off x="658440" y="1874520"/>
            <a:ext cx="5394600" cy="9597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1" name="Rounded Rectangle 9"/>
          <p:cNvSpPr/>
          <p:nvPr/>
        </p:nvSpPr>
        <p:spPr>
          <a:xfrm>
            <a:off x="887040" y="2121480"/>
            <a:ext cx="456840" cy="456840"/>
          </a:xfrm>
          <a:prstGeom prst="roundRect">
            <a:avLst>
              <a:gd name="adj" fmla="val 30000"/>
            </a:avLst>
          </a:prstGeom>
          <a:solidFill>
            <a:srgbClr val="1B222D"/>
          </a:solidFill>
          <a:ln w="19050">
            <a:solidFill>
              <a:srgbClr val="3FB9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2" name="TextBox 10"/>
          <p:cNvSpPr/>
          <p:nvPr/>
        </p:nvSpPr>
        <p:spPr>
          <a:xfrm>
            <a:off x="887040" y="214884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3FB950"/>
                </a:solidFill>
                <a:effectLst/>
                <a:uFillTx/>
                <a:latin typeface="Segoe UI"/>
              </a:rPr>
              <a:t>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11"/>
          <p:cNvSpPr/>
          <p:nvPr/>
        </p:nvSpPr>
        <p:spPr>
          <a:xfrm>
            <a:off x="1527120" y="2039040"/>
            <a:ext cx="4343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5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JWT Bearer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12"/>
          <p:cNvSpPr/>
          <p:nvPr/>
        </p:nvSpPr>
        <p:spPr>
          <a:xfrm>
            <a:off x="1527120" y="2386440"/>
            <a:ext cx="4343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Xác thực bằng access token có thời hạn ngắn.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Rounded Rectangle 13"/>
          <p:cNvSpPr/>
          <p:nvPr/>
        </p:nvSpPr>
        <p:spPr>
          <a:xfrm>
            <a:off x="6282000" y="1874520"/>
            <a:ext cx="5394600" cy="9597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6" name="Rounded Rectangle 14"/>
          <p:cNvSpPr/>
          <p:nvPr/>
        </p:nvSpPr>
        <p:spPr>
          <a:xfrm>
            <a:off x="6510600" y="2121480"/>
            <a:ext cx="456840" cy="456840"/>
          </a:xfrm>
          <a:prstGeom prst="roundRect">
            <a:avLst>
              <a:gd name="adj" fmla="val 30000"/>
            </a:avLst>
          </a:prstGeom>
          <a:solidFill>
            <a:srgbClr val="1B222D"/>
          </a:solidFill>
          <a:ln w="19050">
            <a:solidFill>
              <a:srgbClr val="58A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7" name="TextBox 15"/>
          <p:cNvSpPr/>
          <p:nvPr/>
        </p:nvSpPr>
        <p:spPr>
          <a:xfrm>
            <a:off x="6510600" y="214884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58A6FF"/>
                </a:solidFill>
                <a:effectLst/>
                <a:uFillTx/>
                <a:latin typeface="Segoe UI"/>
              </a:rPr>
              <a:t>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Box 16"/>
          <p:cNvSpPr/>
          <p:nvPr/>
        </p:nvSpPr>
        <p:spPr>
          <a:xfrm>
            <a:off x="7150680" y="2039040"/>
            <a:ext cx="4343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5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Refresh rotation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Box 17"/>
          <p:cNvSpPr/>
          <p:nvPr/>
        </p:nvSpPr>
        <p:spPr>
          <a:xfrm>
            <a:off x="7150680" y="2386440"/>
            <a:ext cx="4343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Token làm mới xoay vòng; tái sử dụng → 401.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Rounded Rectangle 18"/>
          <p:cNvSpPr/>
          <p:nvPr/>
        </p:nvSpPr>
        <p:spPr>
          <a:xfrm>
            <a:off x="658440" y="3054240"/>
            <a:ext cx="5394600" cy="9597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1" name="Rounded Rectangle 19"/>
          <p:cNvSpPr/>
          <p:nvPr/>
        </p:nvSpPr>
        <p:spPr>
          <a:xfrm>
            <a:off x="887040" y="3300840"/>
            <a:ext cx="456840" cy="456840"/>
          </a:xfrm>
          <a:prstGeom prst="roundRect">
            <a:avLst>
              <a:gd name="adj" fmla="val 30000"/>
            </a:avLst>
          </a:prstGeom>
          <a:solidFill>
            <a:srgbClr val="1B222D"/>
          </a:solidFill>
          <a:ln w="19050">
            <a:solidFill>
              <a:srgbClr val="BC8C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2" name="TextBox 20"/>
          <p:cNvSpPr/>
          <p:nvPr/>
        </p:nvSpPr>
        <p:spPr>
          <a:xfrm>
            <a:off x="887040" y="332856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BC8CFF"/>
                </a:solidFill>
                <a:effectLst/>
                <a:uFillTx/>
                <a:latin typeface="Segoe UI"/>
              </a:rPr>
              <a:t>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Box 21"/>
          <p:cNvSpPr/>
          <p:nvPr/>
        </p:nvSpPr>
        <p:spPr>
          <a:xfrm>
            <a:off x="1527120" y="3218760"/>
            <a:ext cx="4343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5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RBAC 3 vai trò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Box 22"/>
          <p:cNvSpPr/>
          <p:nvPr/>
        </p:nvSpPr>
        <p:spPr>
          <a:xfrm>
            <a:off x="1527120" y="3566160"/>
            <a:ext cx="4343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Customer / Seller / Admin — chặn truy cập chéo.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Rounded Rectangle 23"/>
          <p:cNvSpPr/>
          <p:nvPr/>
        </p:nvSpPr>
        <p:spPr>
          <a:xfrm>
            <a:off x="6282000" y="3054240"/>
            <a:ext cx="5394600" cy="9597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6" name="Rounded Rectangle 24"/>
          <p:cNvSpPr/>
          <p:nvPr/>
        </p:nvSpPr>
        <p:spPr>
          <a:xfrm>
            <a:off x="6510600" y="3300840"/>
            <a:ext cx="456840" cy="456840"/>
          </a:xfrm>
          <a:prstGeom prst="roundRect">
            <a:avLst>
              <a:gd name="adj" fmla="val 30000"/>
            </a:avLst>
          </a:prstGeom>
          <a:solidFill>
            <a:srgbClr val="1B222D"/>
          </a:solidFill>
          <a:ln w="19050">
            <a:solidFill>
              <a:srgbClr val="E3B3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7" name="TextBox 25"/>
          <p:cNvSpPr/>
          <p:nvPr/>
        </p:nvSpPr>
        <p:spPr>
          <a:xfrm>
            <a:off x="6510600" y="332856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E3B341"/>
                </a:solidFill>
                <a:effectLst/>
                <a:uFillTx/>
                <a:latin typeface="Segoe UI"/>
              </a:rPr>
              <a:t>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Box 26"/>
          <p:cNvSpPr/>
          <p:nvPr/>
        </p:nvSpPr>
        <p:spPr>
          <a:xfrm>
            <a:off x="7150680" y="3218760"/>
            <a:ext cx="4343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5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Guard nghiệp vụ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27"/>
          <p:cNvSpPr/>
          <p:nvPr/>
        </p:nvSpPr>
        <p:spPr>
          <a:xfrm>
            <a:off x="7150680" y="3566160"/>
            <a:ext cx="4343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Shop Pending/Banned không tạo/sửa sản phẩm.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Rounded Rectangle 28"/>
          <p:cNvSpPr/>
          <p:nvPr/>
        </p:nvSpPr>
        <p:spPr>
          <a:xfrm>
            <a:off x="658440" y="4233600"/>
            <a:ext cx="5394600" cy="9597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1" name="Rounded Rectangle 29"/>
          <p:cNvSpPr/>
          <p:nvPr/>
        </p:nvSpPr>
        <p:spPr>
          <a:xfrm>
            <a:off x="887040" y="4480560"/>
            <a:ext cx="456840" cy="456840"/>
          </a:xfrm>
          <a:prstGeom prst="roundRect">
            <a:avLst>
              <a:gd name="adj" fmla="val 30000"/>
            </a:avLst>
          </a:prstGeom>
          <a:solidFill>
            <a:srgbClr val="1B222D"/>
          </a:solidFill>
          <a:ln w="19050">
            <a:solidFill>
              <a:srgbClr val="3FB9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2" name="TextBox 30"/>
          <p:cNvSpPr/>
          <p:nvPr/>
        </p:nvSpPr>
        <p:spPr>
          <a:xfrm>
            <a:off x="887040" y="450792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3FB950"/>
                </a:solidFill>
                <a:effectLst/>
                <a:uFillTx/>
                <a:latin typeface="Segoe UI"/>
              </a:rPr>
              <a:t>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Box 31"/>
          <p:cNvSpPr/>
          <p:nvPr/>
        </p:nvSpPr>
        <p:spPr>
          <a:xfrm>
            <a:off x="1527120" y="4398120"/>
            <a:ext cx="4343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5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Upload an toàn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Box 32"/>
          <p:cNvSpPr/>
          <p:nvPr/>
        </p:nvSpPr>
        <p:spPr>
          <a:xfrm>
            <a:off x="1527120" y="4745880"/>
            <a:ext cx="4343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Chỉ jpg/png/svg; header X-Content-Type: nosniff.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Rounded Rectangle 33"/>
          <p:cNvSpPr/>
          <p:nvPr/>
        </p:nvSpPr>
        <p:spPr>
          <a:xfrm>
            <a:off x="6282000" y="4233600"/>
            <a:ext cx="5394600" cy="9597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6" name="Rounded Rectangle 34"/>
          <p:cNvSpPr/>
          <p:nvPr/>
        </p:nvSpPr>
        <p:spPr>
          <a:xfrm>
            <a:off x="6510600" y="4480560"/>
            <a:ext cx="456840" cy="456840"/>
          </a:xfrm>
          <a:prstGeom prst="roundRect">
            <a:avLst>
              <a:gd name="adj" fmla="val 30000"/>
            </a:avLst>
          </a:prstGeom>
          <a:solidFill>
            <a:srgbClr val="1B222D"/>
          </a:solidFill>
          <a:ln w="19050">
            <a:solidFill>
              <a:srgbClr val="58A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7" name="TextBox 35"/>
          <p:cNvSpPr/>
          <p:nvPr/>
        </p:nvSpPr>
        <p:spPr>
          <a:xfrm>
            <a:off x="6510600" y="450792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58A6FF"/>
                </a:solidFill>
                <a:effectLst/>
                <a:uFillTx/>
                <a:latin typeface="Segoe UI"/>
              </a:rPr>
              <a:t>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Box 36"/>
          <p:cNvSpPr/>
          <p:nvPr/>
        </p:nvSpPr>
        <p:spPr>
          <a:xfrm>
            <a:off x="7150680" y="4398120"/>
            <a:ext cx="4343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5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CORS whitelist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Box 37"/>
          <p:cNvSpPr/>
          <p:nvPr/>
        </p:nvSpPr>
        <p:spPr>
          <a:xfrm>
            <a:off x="7150680" y="4745880"/>
            <a:ext cx="4343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Chỉ cho phép origin http://localhost:8080.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Rounded Rectangle 38"/>
          <p:cNvSpPr/>
          <p:nvPr/>
        </p:nvSpPr>
        <p:spPr>
          <a:xfrm>
            <a:off x="658440" y="5413320"/>
            <a:ext cx="5394600" cy="9597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1" name="Rounded Rectangle 39"/>
          <p:cNvSpPr/>
          <p:nvPr/>
        </p:nvSpPr>
        <p:spPr>
          <a:xfrm>
            <a:off x="887040" y="5660280"/>
            <a:ext cx="456840" cy="456840"/>
          </a:xfrm>
          <a:prstGeom prst="roundRect">
            <a:avLst>
              <a:gd name="adj" fmla="val 30000"/>
            </a:avLst>
          </a:prstGeom>
          <a:solidFill>
            <a:srgbClr val="1B222D"/>
          </a:solidFill>
          <a:ln w="19050">
            <a:solidFill>
              <a:srgbClr val="BC8C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2" name="TextBox 40"/>
          <p:cNvSpPr/>
          <p:nvPr/>
        </p:nvSpPr>
        <p:spPr>
          <a:xfrm>
            <a:off x="887040" y="568764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BC8CFF"/>
                </a:solidFill>
                <a:effectLst/>
                <a:uFillTx/>
                <a:latin typeface="Segoe UI"/>
              </a:rPr>
              <a:t>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Box 41"/>
          <p:cNvSpPr/>
          <p:nvPr/>
        </p:nvSpPr>
        <p:spPr>
          <a:xfrm>
            <a:off x="1527120" y="5577840"/>
            <a:ext cx="4343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5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Ban mềm/cứng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Box 42"/>
          <p:cNvSpPr/>
          <p:nvPr/>
        </p:nvSpPr>
        <p:spPr>
          <a:xfrm>
            <a:off x="1527120" y="5925240"/>
            <a:ext cx="4343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Ban giữ lịch sử đơn; xóa cứng khi không có đơn.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Rounded Rectangle 43"/>
          <p:cNvSpPr/>
          <p:nvPr/>
        </p:nvSpPr>
        <p:spPr>
          <a:xfrm>
            <a:off x="6282000" y="5413320"/>
            <a:ext cx="5394600" cy="9597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6" name="Rounded Rectangle 44"/>
          <p:cNvSpPr/>
          <p:nvPr/>
        </p:nvSpPr>
        <p:spPr>
          <a:xfrm>
            <a:off x="6510600" y="5660280"/>
            <a:ext cx="456840" cy="456840"/>
          </a:xfrm>
          <a:prstGeom prst="roundRect">
            <a:avLst>
              <a:gd name="adj" fmla="val 30000"/>
            </a:avLst>
          </a:prstGeom>
          <a:solidFill>
            <a:srgbClr val="1B222D"/>
          </a:solidFill>
          <a:ln w="19050">
            <a:solidFill>
              <a:srgbClr val="E3B3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7" name="TextBox 45"/>
          <p:cNvSpPr/>
          <p:nvPr/>
        </p:nvSpPr>
        <p:spPr>
          <a:xfrm>
            <a:off x="6510600" y="568764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E3B341"/>
                </a:solidFill>
                <a:effectLst/>
                <a:uFillTx/>
                <a:latin typeface="Segoe UI"/>
              </a:rPr>
              <a:t>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Box 46"/>
          <p:cNvSpPr/>
          <p:nvPr/>
        </p:nvSpPr>
        <p:spPr>
          <a:xfrm>
            <a:off x="7150680" y="5577840"/>
            <a:ext cx="4343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5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Ràng buộc dữ liệu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Box 47"/>
          <p:cNvSpPr/>
          <p:nvPr/>
        </p:nvSpPr>
        <p:spPr>
          <a:xfrm>
            <a:off x="7150680" y="5925240"/>
            <a:ext cx="4343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Validate input, chống trùng review, kiểm tra tồn kho.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1" name="Rectangle 2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2" name="TextBox 3"/>
          <p:cNvSpPr/>
          <p:nvPr/>
        </p:nvSpPr>
        <p:spPr>
          <a:xfrm>
            <a:off x="640080" y="5029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// kiem-thu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Box 4"/>
          <p:cNvSpPr/>
          <p:nvPr/>
        </p:nvSpPr>
        <p:spPr>
          <a:xfrm>
            <a:off x="603360" y="82296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Kiểm thử &amp; Chất lượng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Rectangle 5"/>
          <p:cNvSpPr/>
          <p:nvPr/>
        </p:nvSpPr>
        <p:spPr>
          <a:xfrm>
            <a:off x="658440" y="1481400"/>
            <a:ext cx="1371240" cy="4068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5" name="TextBox 6"/>
          <p:cNvSpPr/>
          <p:nvPr/>
        </p:nvSpPr>
        <p:spPr>
          <a:xfrm>
            <a:off x="10972800" y="635508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12 / 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Box 7"/>
          <p:cNvSpPr/>
          <p:nvPr/>
        </p:nvSpPr>
        <p:spPr>
          <a:xfrm>
            <a:off x="640080" y="63550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KernelStore — Multi-vendor Marketplace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Rounded Rectangle 8"/>
          <p:cNvSpPr/>
          <p:nvPr/>
        </p:nvSpPr>
        <p:spPr>
          <a:xfrm>
            <a:off x="658440" y="1874520"/>
            <a:ext cx="3657240" cy="41144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8" name="TextBox 9"/>
          <p:cNvSpPr/>
          <p:nvPr/>
        </p:nvSpPr>
        <p:spPr>
          <a:xfrm>
            <a:off x="658440" y="228600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TỔNG KẾT TEST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Box 10"/>
          <p:cNvSpPr/>
          <p:nvPr/>
        </p:nvSpPr>
        <p:spPr>
          <a:xfrm>
            <a:off x="658440" y="274320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82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276</a:t>
            </a:r>
            <a:endParaRPr lang="en-US" sz="8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Box 11"/>
          <p:cNvSpPr/>
          <p:nvPr/>
        </p:nvSpPr>
        <p:spPr>
          <a:xfrm>
            <a:off x="658440" y="388620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800" b="1" u="none" strike="noStrike">
                <a:solidFill>
                  <a:srgbClr val="E6EDF3"/>
                </a:solidFill>
                <a:effectLst/>
                <a:uFillTx/>
                <a:latin typeface="Consolas"/>
              </a:rPr>
              <a:t>/ 276 checks  ✓ PASS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Box 12"/>
          <p:cNvSpPr/>
          <p:nvPr/>
        </p:nvSpPr>
        <p:spPr>
          <a:xfrm>
            <a:off x="658440" y="443484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trên 9 bộ test API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Box 13"/>
          <p:cNvSpPr/>
          <p:nvPr/>
        </p:nvSpPr>
        <p:spPr>
          <a:xfrm>
            <a:off x="658440" y="5029200"/>
            <a:ext cx="3657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curl + jq · WebSocket probe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chạy tái lập trong nix-shell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Rounded Rectangle 14"/>
          <p:cNvSpPr/>
          <p:nvPr/>
        </p:nvSpPr>
        <p:spPr>
          <a:xfrm>
            <a:off x="4617720" y="1874520"/>
            <a:ext cx="6857640" cy="4021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4" name="Oval 15"/>
          <p:cNvSpPr/>
          <p:nvPr/>
        </p:nvSpPr>
        <p:spPr>
          <a:xfrm>
            <a:off x="4800600" y="2011680"/>
            <a:ext cx="127800" cy="127800"/>
          </a:xfrm>
          <a:prstGeom prst="ellipse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5" name="TextBox 16"/>
          <p:cNvSpPr/>
          <p:nvPr/>
        </p:nvSpPr>
        <p:spPr>
          <a:xfrm>
            <a:off x="5074920" y="19018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Phase 1 — Auth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Box 17"/>
          <p:cNvSpPr/>
          <p:nvPr/>
        </p:nvSpPr>
        <p:spPr>
          <a:xfrm>
            <a:off x="10058400" y="190188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21/21  ✓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Rounded Rectangle 18"/>
          <p:cNvSpPr/>
          <p:nvPr/>
        </p:nvSpPr>
        <p:spPr>
          <a:xfrm>
            <a:off x="4617720" y="2331720"/>
            <a:ext cx="6857640" cy="4021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8" name="Oval 19"/>
          <p:cNvSpPr/>
          <p:nvPr/>
        </p:nvSpPr>
        <p:spPr>
          <a:xfrm>
            <a:off x="4800600" y="2468880"/>
            <a:ext cx="127800" cy="127800"/>
          </a:xfrm>
          <a:prstGeom prst="ellipse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9" name="TextBox 20"/>
          <p:cNvSpPr/>
          <p:nvPr/>
        </p:nvSpPr>
        <p:spPr>
          <a:xfrm>
            <a:off x="5074920" y="23590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Phase 2 — Shop &amp; Seller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Box 21"/>
          <p:cNvSpPr/>
          <p:nvPr/>
        </p:nvSpPr>
        <p:spPr>
          <a:xfrm>
            <a:off x="10058400" y="235908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14/14  ✓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Rounded Rectangle 22"/>
          <p:cNvSpPr/>
          <p:nvPr/>
        </p:nvSpPr>
        <p:spPr>
          <a:xfrm>
            <a:off x="4617720" y="2788920"/>
            <a:ext cx="6857640" cy="4021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2" name="Oval 23"/>
          <p:cNvSpPr/>
          <p:nvPr/>
        </p:nvSpPr>
        <p:spPr>
          <a:xfrm>
            <a:off x="4800600" y="2926080"/>
            <a:ext cx="127800" cy="127800"/>
          </a:xfrm>
          <a:prstGeom prst="ellipse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3" name="TextBox 24"/>
          <p:cNvSpPr/>
          <p:nvPr/>
        </p:nvSpPr>
        <p:spPr>
          <a:xfrm>
            <a:off x="5074920" y="28162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Phase 3 — Product &amp; Category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Box 25"/>
          <p:cNvSpPr/>
          <p:nvPr/>
        </p:nvSpPr>
        <p:spPr>
          <a:xfrm>
            <a:off x="10058400" y="281628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27/27  ✓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Rounded Rectangle 26"/>
          <p:cNvSpPr/>
          <p:nvPr/>
        </p:nvSpPr>
        <p:spPr>
          <a:xfrm>
            <a:off x="4617720" y="3246120"/>
            <a:ext cx="6857640" cy="4021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6" name="Oval 27"/>
          <p:cNvSpPr/>
          <p:nvPr/>
        </p:nvSpPr>
        <p:spPr>
          <a:xfrm>
            <a:off x="4800600" y="3383280"/>
            <a:ext cx="127800" cy="127800"/>
          </a:xfrm>
          <a:prstGeom prst="ellipse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7" name="TextBox 28"/>
          <p:cNvSpPr/>
          <p:nvPr/>
        </p:nvSpPr>
        <p:spPr>
          <a:xfrm>
            <a:off x="5074920" y="32734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Phase 4 — Cart &amp; Checkout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Box 29"/>
          <p:cNvSpPr/>
          <p:nvPr/>
        </p:nvSpPr>
        <p:spPr>
          <a:xfrm>
            <a:off x="10058400" y="327348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22/22  ✓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Rounded Rectangle 30"/>
          <p:cNvSpPr/>
          <p:nvPr/>
        </p:nvSpPr>
        <p:spPr>
          <a:xfrm>
            <a:off x="4617720" y="3703320"/>
            <a:ext cx="6857640" cy="4021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0" name="Oval 31"/>
          <p:cNvSpPr/>
          <p:nvPr/>
        </p:nvSpPr>
        <p:spPr>
          <a:xfrm>
            <a:off x="4800600" y="3840480"/>
            <a:ext cx="127800" cy="127800"/>
          </a:xfrm>
          <a:prstGeom prst="ellipse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1" name="TextBox 32"/>
          <p:cNvSpPr/>
          <p:nvPr/>
        </p:nvSpPr>
        <p:spPr>
          <a:xfrm>
            <a:off x="5074920" y="37306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Phase 5 — Review &amp; Rating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Box 33"/>
          <p:cNvSpPr/>
          <p:nvPr/>
        </p:nvSpPr>
        <p:spPr>
          <a:xfrm>
            <a:off x="10058400" y="373068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15/15  ✓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Rounded Rectangle 34"/>
          <p:cNvSpPr/>
          <p:nvPr/>
        </p:nvSpPr>
        <p:spPr>
          <a:xfrm>
            <a:off x="4617720" y="4160520"/>
            <a:ext cx="6857640" cy="4021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4" name="Oval 35"/>
          <p:cNvSpPr/>
          <p:nvPr/>
        </p:nvSpPr>
        <p:spPr>
          <a:xfrm>
            <a:off x="4800600" y="4297680"/>
            <a:ext cx="127800" cy="127800"/>
          </a:xfrm>
          <a:prstGeom prst="ellipse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5" name="TextBox 36"/>
          <p:cNvSpPr/>
          <p:nvPr/>
        </p:nvSpPr>
        <p:spPr>
          <a:xfrm>
            <a:off x="5074920" y="41878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Phase 6 — Admin Panel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Box 37"/>
          <p:cNvSpPr/>
          <p:nvPr/>
        </p:nvSpPr>
        <p:spPr>
          <a:xfrm>
            <a:off x="10058400" y="418788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32/32  ✓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Rounded Rectangle 38"/>
          <p:cNvSpPr/>
          <p:nvPr/>
        </p:nvSpPr>
        <p:spPr>
          <a:xfrm>
            <a:off x="4617720" y="4617720"/>
            <a:ext cx="6857640" cy="4021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8" name="Oval 39"/>
          <p:cNvSpPr/>
          <p:nvPr/>
        </p:nvSpPr>
        <p:spPr>
          <a:xfrm>
            <a:off x="4800600" y="4754880"/>
            <a:ext cx="127800" cy="127800"/>
          </a:xfrm>
          <a:prstGeom prst="ellipse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9" name="TextBox 40"/>
          <p:cNvSpPr/>
          <p:nvPr/>
        </p:nvSpPr>
        <p:spPr>
          <a:xfrm>
            <a:off x="5074920" y="46450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Chat realtime (REST + WS)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Box 41"/>
          <p:cNvSpPr/>
          <p:nvPr/>
        </p:nvSpPr>
        <p:spPr>
          <a:xfrm>
            <a:off x="10058400" y="464508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27/27  ✓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Rounded Rectangle 42"/>
          <p:cNvSpPr/>
          <p:nvPr/>
        </p:nvSpPr>
        <p:spPr>
          <a:xfrm>
            <a:off x="4617720" y="5074920"/>
            <a:ext cx="6857640" cy="4021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2" name="Oval 43"/>
          <p:cNvSpPr/>
          <p:nvPr/>
        </p:nvSpPr>
        <p:spPr>
          <a:xfrm>
            <a:off x="4800600" y="5212080"/>
            <a:ext cx="127800" cy="127800"/>
          </a:xfrm>
          <a:prstGeom prst="ellipse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3" name="TextBox 44"/>
          <p:cNvSpPr/>
          <p:nvPr/>
        </p:nvSpPr>
        <p:spPr>
          <a:xfrm>
            <a:off x="5074920" y="51022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End-to-end mọi vai trò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Box 45"/>
          <p:cNvSpPr/>
          <p:nvPr/>
        </p:nvSpPr>
        <p:spPr>
          <a:xfrm>
            <a:off x="10058400" y="510228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52/52  ✓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Rounded Rectangle 46"/>
          <p:cNvSpPr/>
          <p:nvPr/>
        </p:nvSpPr>
        <p:spPr>
          <a:xfrm>
            <a:off x="4617720" y="5532120"/>
            <a:ext cx="6857640" cy="4021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6" name="Oval 47"/>
          <p:cNvSpPr/>
          <p:nvPr/>
        </p:nvSpPr>
        <p:spPr>
          <a:xfrm>
            <a:off x="4800600" y="5669280"/>
            <a:ext cx="127800" cy="127800"/>
          </a:xfrm>
          <a:prstGeom prst="ellipse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7" name="TextBox 48"/>
          <p:cNvSpPr/>
          <p:nvPr/>
        </p:nvSpPr>
        <p:spPr>
          <a:xfrm>
            <a:off x="5074920" y="55594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Các chức năng còn lại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Box 49"/>
          <p:cNvSpPr/>
          <p:nvPr/>
        </p:nvSpPr>
        <p:spPr>
          <a:xfrm>
            <a:off x="10058400" y="555948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66/66  ✓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0" name="Rectangle 2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1" name="TextBox 3"/>
          <p:cNvSpPr/>
          <p:nvPr/>
        </p:nvSpPr>
        <p:spPr>
          <a:xfrm>
            <a:off x="640080" y="5029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// san-pham-2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Box 4"/>
          <p:cNvSpPr/>
          <p:nvPr/>
        </p:nvSpPr>
        <p:spPr>
          <a:xfrm>
            <a:off x="603360" y="82296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Đa dạng danh mục — từ IoT đến hạ tầng AI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Rectangle 5"/>
          <p:cNvSpPr/>
          <p:nvPr/>
        </p:nvSpPr>
        <p:spPr>
          <a:xfrm>
            <a:off x="658440" y="1481400"/>
            <a:ext cx="1371240" cy="4068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4" name="TextBox 6"/>
          <p:cNvSpPr/>
          <p:nvPr/>
        </p:nvSpPr>
        <p:spPr>
          <a:xfrm>
            <a:off x="10972800" y="635508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13 / 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Box 7"/>
          <p:cNvSpPr/>
          <p:nvPr/>
        </p:nvSpPr>
        <p:spPr>
          <a:xfrm>
            <a:off x="640080" y="63550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KernelStore — Multi-vendor Marketplace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Rounded Rectangle 8"/>
          <p:cNvSpPr/>
          <p:nvPr/>
        </p:nvSpPr>
        <p:spPr>
          <a:xfrm>
            <a:off x="658440" y="1828800"/>
            <a:ext cx="2541600" cy="2084400"/>
          </a:xfrm>
          <a:prstGeom prst="roundRect">
            <a:avLst>
              <a:gd name="adj" fmla="val 6000"/>
            </a:avLst>
          </a:prstGeom>
          <a:solidFill>
            <a:srgbClr val="1B222D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7" name="Rounded Rectangle 9"/>
          <p:cNvSpPr/>
          <p:nvPr/>
        </p:nvSpPr>
        <p:spPr>
          <a:xfrm>
            <a:off x="768240" y="1938600"/>
            <a:ext cx="2322360" cy="1234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18" name="Picture 10" descr="esp32-devkit-v1.jpg"/>
          <p:cNvPicPr/>
          <p:nvPr/>
        </p:nvPicPr>
        <p:blipFill>
          <a:blip r:embed="rId1"/>
          <a:stretch/>
        </p:blipFill>
        <p:spPr>
          <a:xfrm>
            <a:off x="1366920" y="1993320"/>
            <a:ext cx="1124280" cy="112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9" name="TextBox 11"/>
          <p:cNvSpPr/>
          <p:nvPr/>
        </p:nvSpPr>
        <p:spPr>
          <a:xfrm>
            <a:off x="804600" y="3246120"/>
            <a:ext cx="2248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95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ESP32 DevKit V1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Box 12"/>
          <p:cNvSpPr/>
          <p:nvPr/>
        </p:nvSpPr>
        <p:spPr>
          <a:xfrm>
            <a:off x="804600" y="3602880"/>
            <a:ext cx="224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$8.99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Rounded Rectangle 13"/>
          <p:cNvSpPr/>
          <p:nvPr/>
        </p:nvSpPr>
        <p:spPr>
          <a:xfrm>
            <a:off x="3420000" y="1828800"/>
            <a:ext cx="2541600" cy="2084400"/>
          </a:xfrm>
          <a:prstGeom prst="roundRect">
            <a:avLst>
              <a:gd name="adj" fmla="val 6000"/>
            </a:avLst>
          </a:prstGeom>
          <a:solidFill>
            <a:srgbClr val="1B222D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2" name="Rounded Rectangle 14"/>
          <p:cNvSpPr/>
          <p:nvPr/>
        </p:nvSpPr>
        <p:spPr>
          <a:xfrm>
            <a:off x="3529440" y="1938600"/>
            <a:ext cx="2322360" cy="1234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23" name="Picture 15" descr="ubiquiti-unifi-dream-machine.jpg"/>
          <p:cNvPicPr/>
          <p:nvPr/>
        </p:nvPicPr>
        <p:blipFill>
          <a:blip r:embed="rId2"/>
          <a:stretch/>
        </p:blipFill>
        <p:spPr>
          <a:xfrm>
            <a:off x="4128480" y="1993320"/>
            <a:ext cx="1124280" cy="112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4" name="TextBox 16"/>
          <p:cNvSpPr/>
          <p:nvPr/>
        </p:nvSpPr>
        <p:spPr>
          <a:xfrm>
            <a:off x="3566160" y="3246120"/>
            <a:ext cx="2248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95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UniFi Dream Machine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Box 17"/>
          <p:cNvSpPr/>
          <p:nvPr/>
        </p:nvSpPr>
        <p:spPr>
          <a:xfrm>
            <a:off x="3566160" y="3602880"/>
            <a:ext cx="224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$379.00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Rounded Rectangle 18"/>
          <p:cNvSpPr/>
          <p:nvPr/>
        </p:nvSpPr>
        <p:spPr>
          <a:xfrm>
            <a:off x="6181200" y="1828800"/>
            <a:ext cx="2541600" cy="2084400"/>
          </a:xfrm>
          <a:prstGeom prst="roundRect">
            <a:avLst>
              <a:gd name="adj" fmla="val 6000"/>
            </a:avLst>
          </a:prstGeom>
          <a:solidFill>
            <a:srgbClr val="1B222D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7" name="Rounded Rectangle 19"/>
          <p:cNvSpPr/>
          <p:nvPr/>
        </p:nvSpPr>
        <p:spPr>
          <a:xfrm>
            <a:off x="6291000" y="1938600"/>
            <a:ext cx="2322360" cy="1234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28" name="Picture 20" descr="synology-4-bay-nas.jpg"/>
          <p:cNvPicPr/>
          <p:nvPr/>
        </p:nvPicPr>
        <p:blipFill>
          <a:blip r:embed="rId3"/>
          <a:stretch/>
        </p:blipFill>
        <p:spPr>
          <a:xfrm>
            <a:off x="6702480" y="1993320"/>
            <a:ext cx="1499400" cy="112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9" name="TextBox 21"/>
          <p:cNvSpPr/>
          <p:nvPr/>
        </p:nvSpPr>
        <p:spPr>
          <a:xfrm>
            <a:off x="6327720" y="3246120"/>
            <a:ext cx="2248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95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Synology 4-Bay NAS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Box 22"/>
          <p:cNvSpPr/>
          <p:nvPr/>
        </p:nvSpPr>
        <p:spPr>
          <a:xfrm>
            <a:off x="6327720" y="3602880"/>
            <a:ext cx="224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$499.99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Rounded Rectangle 23"/>
          <p:cNvSpPr/>
          <p:nvPr/>
        </p:nvSpPr>
        <p:spPr>
          <a:xfrm>
            <a:off x="8942760" y="1828800"/>
            <a:ext cx="2541600" cy="2084400"/>
          </a:xfrm>
          <a:prstGeom prst="roundRect">
            <a:avLst>
              <a:gd name="adj" fmla="val 6000"/>
            </a:avLst>
          </a:prstGeom>
          <a:solidFill>
            <a:srgbClr val="1B222D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2" name="Rounded Rectangle 24"/>
          <p:cNvSpPr/>
          <p:nvPr/>
        </p:nvSpPr>
        <p:spPr>
          <a:xfrm>
            <a:off x="9052560" y="1938600"/>
            <a:ext cx="2322360" cy="1234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33" name="Picture 25" descr="elgato-stream-deck-mk2.jpg"/>
          <p:cNvPicPr/>
          <p:nvPr/>
        </p:nvPicPr>
        <p:blipFill>
          <a:blip r:embed="rId4"/>
          <a:stretch/>
        </p:blipFill>
        <p:spPr>
          <a:xfrm>
            <a:off x="9622440" y="1993320"/>
            <a:ext cx="1182240" cy="112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4" name="TextBox 26"/>
          <p:cNvSpPr/>
          <p:nvPr/>
        </p:nvSpPr>
        <p:spPr>
          <a:xfrm>
            <a:off x="9089280" y="3246120"/>
            <a:ext cx="2248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95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Elgato Stream Deck MK2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Box 27"/>
          <p:cNvSpPr/>
          <p:nvPr/>
        </p:nvSpPr>
        <p:spPr>
          <a:xfrm>
            <a:off x="9089280" y="3602880"/>
            <a:ext cx="224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$149.99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Rounded Rectangle 28"/>
          <p:cNvSpPr/>
          <p:nvPr/>
        </p:nvSpPr>
        <p:spPr>
          <a:xfrm>
            <a:off x="658440" y="4169520"/>
            <a:ext cx="2541600" cy="2084400"/>
          </a:xfrm>
          <a:prstGeom prst="roundRect">
            <a:avLst>
              <a:gd name="adj" fmla="val 6000"/>
            </a:avLst>
          </a:prstGeom>
          <a:solidFill>
            <a:srgbClr val="1B222D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7" name="Rounded Rectangle 29"/>
          <p:cNvSpPr/>
          <p:nvPr/>
        </p:nvSpPr>
        <p:spPr>
          <a:xfrm>
            <a:off x="768240" y="4279320"/>
            <a:ext cx="2322360" cy="1234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38" name="Picture 30" descr="nvidia-a100-80gb.jpg"/>
          <p:cNvPicPr/>
          <p:nvPr/>
        </p:nvPicPr>
        <p:blipFill>
          <a:blip r:embed="rId5"/>
          <a:stretch/>
        </p:blipFill>
        <p:spPr>
          <a:xfrm>
            <a:off x="929520" y="4334400"/>
            <a:ext cx="1999080" cy="112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9" name="TextBox 31"/>
          <p:cNvSpPr/>
          <p:nvPr/>
        </p:nvSpPr>
        <p:spPr>
          <a:xfrm>
            <a:off x="804600" y="5586840"/>
            <a:ext cx="2248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95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NVIDIA A100 80GB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Box 32"/>
          <p:cNvSpPr/>
          <p:nvPr/>
        </p:nvSpPr>
        <p:spPr>
          <a:xfrm>
            <a:off x="804600" y="5943600"/>
            <a:ext cx="224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$18,999.00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Rounded Rectangle 33"/>
          <p:cNvSpPr/>
          <p:nvPr/>
        </p:nvSpPr>
        <p:spPr>
          <a:xfrm>
            <a:off x="3420000" y="4169520"/>
            <a:ext cx="2541600" cy="2084400"/>
          </a:xfrm>
          <a:prstGeom prst="roundRect">
            <a:avLst>
              <a:gd name="adj" fmla="val 6000"/>
            </a:avLst>
          </a:prstGeom>
          <a:solidFill>
            <a:srgbClr val="1B222D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2" name="Rounded Rectangle 34"/>
          <p:cNvSpPr/>
          <p:nvPr/>
        </p:nvSpPr>
        <p:spPr>
          <a:xfrm>
            <a:off x="3529440" y="4279320"/>
            <a:ext cx="2322360" cy="1234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43" name="Picture 35" descr="hak5-wifi-pineapple.jpg"/>
          <p:cNvPicPr/>
          <p:nvPr/>
        </p:nvPicPr>
        <p:blipFill>
          <a:blip r:embed="rId6"/>
          <a:stretch/>
        </p:blipFill>
        <p:spPr>
          <a:xfrm>
            <a:off x="4128480" y="4334400"/>
            <a:ext cx="1124280" cy="112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4" name="TextBox 36"/>
          <p:cNvSpPr/>
          <p:nvPr/>
        </p:nvSpPr>
        <p:spPr>
          <a:xfrm>
            <a:off x="3566160" y="5586840"/>
            <a:ext cx="2248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95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WiFi Pineapple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Box 37"/>
          <p:cNvSpPr/>
          <p:nvPr/>
        </p:nvSpPr>
        <p:spPr>
          <a:xfrm>
            <a:off x="3566160" y="5943600"/>
            <a:ext cx="224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$119.99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Rounded Rectangle 38"/>
          <p:cNvSpPr/>
          <p:nvPr/>
        </p:nvSpPr>
        <p:spPr>
          <a:xfrm>
            <a:off x="6181200" y="4169520"/>
            <a:ext cx="2541600" cy="2084400"/>
          </a:xfrm>
          <a:prstGeom prst="roundRect">
            <a:avLst>
              <a:gd name="adj" fmla="val 6000"/>
            </a:avLst>
          </a:prstGeom>
          <a:solidFill>
            <a:srgbClr val="1B222D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7" name="Rounded Rectangle 39"/>
          <p:cNvSpPr/>
          <p:nvPr/>
        </p:nvSpPr>
        <p:spPr>
          <a:xfrm>
            <a:off x="6291000" y="4279320"/>
            <a:ext cx="2322360" cy="1234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48" name="Picture 40" descr="samsung-galaxy-tab-s8-plus-grey.jpg"/>
          <p:cNvPicPr/>
          <p:nvPr/>
        </p:nvPicPr>
        <p:blipFill>
          <a:blip r:embed="rId7"/>
          <a:stretch/>
        </p:blipFill>
        <p:spPr>
          <a:xfrm>
            <a:off x="6890040" y="4334400"/>
            <a:ext cx="1124280" cy="112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9" name="TextBox 41"/>
          <p:cNvSpPr/>
          <p:nvPr/>
        </p:nvSpPr>
        <p:spPr>
          <a:xfrm>
            <a:off x="6327720" y="5586840"/>
            <a:ext cx="2248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95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Galaxy Tab S8+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Box 42"/>
          <p:cNvSpPr/>
          <p:nvPr/>
        </p:nvSpPr>
        <p:spPr>
          <a:xfrm>
            <a:off x="6327720" y="5943600"/>
            <a:ext cx="224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$899.00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Rounded Rectangle 43"/>
          <p:cNvSpPr/>
          <p:nvPr/>
        </p:nvSpPr>
        <p:spPr>
          <a:xfrm>
            <a:off x="8942760" y="4169520"/>
            <a:ext cx="2541600" cy="2084400"/>
          </a:xfrm>
          <a:prstGeom prst="roundRect">
            <a:avLst>
              <a:gd name="adj" fmla="val 6000"/>
            </a:avLst>
          </a:prstGeom>
          <a:solidFill>
            <a:srgbClr val="1B222D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2" name="Rounded Rectangle 44"/>
          <p:cNvSpPr/>
          <p:nvPr/>
        </p:nvSpPr>
        <p:spPr>
          <a:xfrm>
            <a:off x="9052560" y="4279320"/>
            <a:ext cx="2322360" cy="1234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53" name="Picture 45" descr="apple-airpods-max-silver.jpg"/>
          <p:cNvPicPr/>
          <p:nvPr/>
        </p:nvPicPr>
        <p:blipFill>
          <a:blip r:embed="rId8"/>
          <a:stretch/>
        </p:blipFill>
        <p:spPr>
          <a:xfrm>
            <a:off x="9651600" y="4334400"/>
            <a:ext cx="1124280" cy="112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4" name="TextBox 46"/>
          <p:cNvSpPr/>
          <p:nvPr/>
        </p:nvSpPr>
        <p:spPr>
          <a:xfrm>
            <a:off x="9089280" y="5586840"/>
            <a:ext cx="2248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95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AirPods Max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Box 47"/>
          <p:cNvSpPr/>
          <p:nvPr/>
        </p:nvSpPr>
        <p:spPr>
          <a:xfrm>
            <a:off x="9089280" y="5943600"/>
            <a:ext cx="224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$549.00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7" name="Rectangle 2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8" name="TextBox 3"/>
          <p:cNvSpPr/>
          <p:nvPr/>
        </p:nvSpPr>
        <p:spPr>
          <a:xfrm>
            <a:off x="640080" y="5029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// demo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Box 4"/>
          <p:cNvSpPr/>
          <p:nvPr/>
        </p:nvSpPr>
        <p:spPr>
          <a:xfrm>
            <a:off x="603360" y="82296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Demo &amp; Hướng dẫn chạy thử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Rectangle 5"/>
          <p:cNvSpPr/>
          <p:nvPr/>
        </p:nvSpPr>
        <p:spPr>
          <a:xfrm>
            <a:off x="658440" y="1481400"/>
            <a:ext cx="1371240" cy="4068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1" name="TextBox 6"/>
          <p:cNvSpPr/>
          <p:nvPr/>
        </p:nvSpPr>
        <p:spPr>
          <a:xfrm>
            <a:off x="10972800" y="635508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14 / 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Box 7"/>
          <p:cNvSpPr/>
          <p:nvPr/>
        </p:nvSpPr>
        <p:spPr>
          <a:xfrm>
            <a:off x="640080" y="63550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KernelStore — Multi-vendor Marketplace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Rounded Rectangle 8"/>
          <p:cNvSpPr/>
          <p:nvPr/>
        </p:nvSpPr>
        <p:spPr>
          <a:xfrm>
            <a:off x="658440" y="1828800"/>
            <a:ext cx="5486040" cy="38376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4" name="Oval 9"/>
          <p:cNvSpPr/>
          <p:nvPr/>
        </p:nvSpPr>
        <p:spPr>
          <a:xfrm>
            <a:off x="859680" y="1956960"/>
            <a:ext cx="127800" cy="127800"/>
          </a:xfrm>
          <a:prstGeom prst="ellipse">
            <a:avLst/>
          </a:prstGeom>
          <a:solidFill>
            <a:srgbClr val="FF5F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5" name="Oval 10"/>
          <p:cNvSpPr/>
          <p:nvPr/>
        </p:nvSpPr>
        <p:spPr>
          <a:xfrm>
            <a:off x="1060560" y="1956960"/>
            <a:ext cx="127800" cy="127800"/>
          </a:xfrm>
          <a:prstGeom prst="ellipse">
            <a:avLst/>
          </a:prstGeom>
          <a:solidFill>
            <a:srgbClr val="FFBD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6" name="Oval 11"/>
          <p:cNvSpPr/>
          <p:nvPr/>
        </p:nvSpPr>
        <p:spPr>
          <a:xfrm>
            <a:off x="1261800" y="1956960"/>
            <a:ext cx="127800" cy="127800"/>
          </a:xfrm>
          <a:prstGeom prst="ellipse">
            <a:avLst/>
          </a:prstGeom>
          <a:solidFill>
            <a:srgbClr val="27C9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7" name="TextBox 12"/>
          <p:cNvSpPr/>
          <p:nvPr/>
        </p:nvSpPr>
        <p:spPr>
          <a:xfrm>
            <a:off x="1527120" y="1856160"/>
            <a:ext cx="4388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kernel@store:~$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Rounded Rectangle 13"/>
          <p:cNvSpPr/>
          <p:nvPr/>
        </p:nvSpPr>
        <p:spPr>
          <a:xfrm>
            <a:off x="658440" y="2212920"/>
            <a:ext cx="5486040" cy="3794400"/>
          </a:xfrm>
          <a:prstGeom prst="roundRect">
            <a:avLst>
              <a:gd name="adj" fmla="val 3000"/>
            </a:avLst>
          </a:prstGeom>
          <a:solidFill>
            <a:srgbClr val="0A0E14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9" name="TextBox 14"/>
          <p:cNvSpPr/>
          <p:nvPr/>
        </p:nvSpPr>
        <p:spPr>
          <a:xfrm>
            <a:off x="914400" y="242316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$ docker compose up -d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Box 15"/>
          <p:cNvSpPr/>
          <p:nvPr/>
        </p:nvSpPr>
        <p:spPr>
          <a:xfrm>
            <a:off x="914400" y="242316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# Database  → :5433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Box 16"/>
          <p:cNvSpPr/>
          <p:nvPr/>
        </p:nvSpPr>
        <p:spPr>
          <a:xfrm>
            <a:off x="914400" y="284364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$ dotnet run --project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Box 17"/>
          <p:cNvSpPr/>
          <p:nvPr/>
        </p:nvSpPr>
        <p:spPr>
          <a:xfrm>
            <a:off x="914400" y="326448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    backend/KernelStore.Api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Box 18"/>
          <p:cNvSpPr/>
          <p:nvPr/>
        </p:nvSpPr>
        <p:spPr>
          <a:xfrm>
            <a:off x="914400" y="32644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# Backend → :5000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Box 19"/>
          <p:cNvSpPr/>
          <p:nvPr/>
        </p:nvSpPr>
        <p:spPr>
          <a:xfrm>
            <a:off x="914400" y="368496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E3B341"/>
                </a:solidFill>
                <a:effectLst/>
                <a:uFillTx/>
                <a:latin typeface="Consolas"/>
              </a:rPr>
              <a:t>$ cd frontend &amp;&amp; trunk serve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Box 20"/>
          <p:cNvSpPr/>
          <p:nvPr/>
        </p:nvSpPr>
        <p:spPr>
          <a:xfrm>
            <a:off x="914400" y="368496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# Frontend → :8080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Box 21"/>
          <p:cNvSpPr/>
          <p:nvPr/>
        </p:nvSpPr>
        <p:spPr>
          <a:xfrm>
            <a:off x="914400" y="410580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BC8CFF"/>
                </a:solidFill>
                <a:effectLst/>
                <a:uFillTx/>
                <a:latin typeface="Consolas"/>
              </a:rPr>
              <a:t>$ ./seed.sh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Box 22"/>
          <p:cNvSpPr/>
          <p:nvPr/>
        </p:nvSpPr>
        <p:spPr>
          <a:xfrm>
            <a:off x="914400" y="410580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5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# 7 shop · 57 sản phẩm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Box 23"/>
          <p:cNvSpPr/>
          <p:nvPr/>
        </p:nvSpPr>
        <p:spPr>
          <a:xfrm>
            <a:off x="914400" y="494676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→ Mở http://localhost:8080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Box 24"/>
          <p:cNvSpPr/>
          <p:nvPr/>
        </p:nvSpPr>
        <p:spPr>
          <a:xfrm>
            <a:off x="914400" y="536760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  Hoặc 1 lệnh: ./run.sh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Rounded Rectangle 25"/>
          <p:cNvSpPr/>
          <p:nvPr/>
        </p:nvSpPr>
        <p:spPr>
          <a:xfrm>
            <a:off x="6446520" y="1828800"/>
            <a:ext cx="5028840" cy="41785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1" name="TextBox 26"/>
          <p:cNvSpPr/>
          <p:nvPr/>
        </p:nvSpPr>
        <p:spPr>
          <a:xfrm>
            <a:off x="6720840" y="20116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# Tài khoản demo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Rounded Rectangle 27"/>
          <p:cNvSpPr/>
          <p:nvPr/>
        </p:nvSpPr>
        <p:spPr>
          <a:xfrm>
            <a:off x="6720840" y="2514600"/>
            <a:ext cx="4480200" cy="511560"/>
          </a:xfrm>
          <a:prstGeom prst="roundRect">
            <a:avLst>
              <a:gd name="adj" fmla="val 15000"/>
            </a:avLst>
          </a:prstGeom>
          <a:solidFill>
            <a:srgbClr val="1B222D"/>
          </a:solidFill>
          <a:ln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3" name="TextBox 28"/>
          <p:cNvSpPr/>
          <p:nvPr/>
        </p:nvSpPr>
        <p:spPr>
          <a:xfrm>
            <a:off x="6858000" y="2541960"/>
            <a:ext cx="118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BC8CFF"/>
                </a:solidFill>
                <a:effectLst/>
                <a:uFillTx/>
                <a:latin typeface="Consolas"/>
              </a:rPr>
              <a:t>Admin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Box 29"/>
          <p:cNvSpPr/>
          <p:nvPr/>
        </p:nvSpPr>
        <p:spPr>
          <a:xfrm>
            <a:off x="7955280" y="2532960"/>
            <a:ext cx="2102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</a:rPr>
              <a:t>admin@ks.com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Box 30"/>
          <p:cNvSpPr/>
          <p:nvPr/>
        </p:nvSpPr>
        <p:spPr>
          <a:xfrm>
            <a:off x="10012680" y="2532960"/>
            <a:ext cx="1142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Admin@12345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Rounded Rectangle 31"/>
          <p:cNvSpPr/>
          <p:nvPr/>
        </p:nvSpPr>
        <p:spPr>
          <a:xfrm>
            <a:off x="6720840" y="3090600"/>
            <a:ext cx="4480200" cy="511560"/>
          </a:xfrm>
          <a:prstGeom prst="roundRect">
            <a:avLst>
              <a:gd name="adj" fmla="val 15000"/>
            </a:avLst>
          </a:prstGeom>
          <a:solidFill>
            <a:srgbClr val="1B222D"/>
          </a:solidFill>
          <a:ln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7" name="TextBox 32"/>
          <p:cNvSpPr/>
          <p:nvPr/>
        </p:nvSpPr>
        <p:spPr>
          <a:xfrm>
            <a:off x="6858000" y="3117960"/>
            <a:ext cx="118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Seller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Box 33"/>
          <p:cNvSpPr/>
          <p:nvPr/>
        </p:nvSpPr>
        <p:spPr>
          <a:xfrm>
            <a:off x="7955280" y="3108960"/>
            <a:ext cx="2102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</a:rPr>
              <a:t>seller1@demo.ks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Box 34"/>
          <p:cNvSpPr/>
          <p:nvPr/>
        </p:nvSpPr>
        <p:spPr>
          <a:xfrm>
            <a:off x="10012680" y="3108960"/>
            <a:ext cx="1142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Seller@12345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Rounded Rectangle 35"/>
          <p:cNvSpPr/>
          <p:nvPr/>
        </p:nvSpPr>
        <p:spPr>
          <a:xfrm>
            <a:off x="6720840" y="3666600"/>
            <a:ext cx="4480200" cy="511560"/>
          </a:xfrm>
          <a:prstGeom prst="roundRect">
            <a:avLst>
              <a:gd name="adj" fmla="val 15000"/>
            </a:avLst>
          </a:prstGeom>
          <a:solidFill>
            <a:srgbClr val="1B222D"/>
          </a:solidFill>
          <a:ln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1" name="TextBox 36"/>
          <p:cNvSpPr/>
          <p:nvPr/>
        </p:nvSpPr>
        <p:spPr>
          <a:xfrm>
            <a:off x="6858000" y="3694320"/>
            <a:ext cx="118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Seller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Box 37"/>
          <p:cNvSpPr/>
          <p:nvPr/>
        </p:nvSpPr>
        <p:spPr>
          <a:xfrm>
            <a:off x="7955280" y="3684960"/>
            <a:ext cx="2102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</a:rPr>
              <a:t>iot@demo.ks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Box 38"/>
          <p:cNvSpPr/>
          <p:nvPr/>
        </p:nvSpPr>
        <p:spPr>
          <a:xfrm>
            <a:off x="10012680" y="3684960"/>
            <a:ext cx="1142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Seller@12345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Rounded Rectangle 39"/>
          <p:cNvSpPr/>
          <p:nvPr/>
        </p:nvSpPr>
        <p:spPr>
          <a:xfrm>
            <a:off x="6720840" y="4242960"/>
            <a:ext cx="4480200" cy="511560"/>
          </a:xfrm>
          <a:prstGeom prst="roundRect">
            <a:avLst>
              <a:gd name="adj" fmla="val 15000"/>
            </a:avLst>
          </a:prstGeom>
          <a:solidFill>
            <a:srgbClr val="1B222D"/>
          </a:solidFill>
          <a:ln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5" name="TextBox 40"/>
          <p:cNvSpPr/>
          <p:nvPr/>
        </p:nvSpPr>
        <p:spPr>
          <a:xfrm>
            <a:off x="6858000" y="4270320"/>
            <a:ext cx="118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Seller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Box 41"/>
          <p:cNvSpPr/>
          <p:nvPr/>
        </p:nvSpPr>
        <p:spPr>
          <a:xfrm>
            <a:off x="7955280" y="4260960"/>
            <a:ext cx="2102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</a:rPr>
              <a:t>ai@demo.ks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Box 42"/>
          <p:cNvSpPr/>
          <p:nvPr/>
        </p:nvSpPr>
        <p:spPr>
          <a:xfrm>
            <a:off x="10012680" y="4260960"/>
            <a:ext cx="1142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Seller@12345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Rounded Rectangle 43"/>
          <p:cNvSpPr/>
          <p:nvPr/>
        </p:nvSpPr>
        <p:spPr>
          <a:xfrm>
            <a:off x="6720840" y="4818960"/>
            <a:ext cx="4480200" cy="511560"/>
          </a:xfrm>
          <a:prstGeom prst="roundRect">
            <a:avLst>
              <a:gd name="adj" fmla="val 15000"/>
            </a:avLst>
          </a:prstGeom>
          <a:solidFill>
            <a:srgbClr val="1B222D"/>
          </a:solidFill>
          <a:ln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9" name="TextBox 44"/>
          <p:cNvSpPr/>
          <p:nvPr/>
        </p:nvSpPr>
        <p:spPr>
          <a:xfrm>
            <a:off x="6858000" y="4846320"/>
            <a:ext cx="118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Seller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Box 45"/>
          <p:cNvSpPr/>
          <p:nvPr/>
        </p:nvSpPr>
        <p:spPr>
          <a:xfrm>
            <a:off x="7955280" y="4837320"/>
            <a:ext cx="2102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</a:rPr>
              <a:t>security@demo.ks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Box 46"/>
          <p:cNvSpPr/>
          <p:nvPr/>
        </p:nvSpPr>
        <p:spPr>
          <a:xfrm>
            <a:off x="10012680" y="4837320"/>
            <a:ext cx="1142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Seller@12345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Rounded Rectangle 47"/>
          <p:cNvSpPr/>
          <p:nvPr/>
        </p:nvSpPr>
        <p:spPr>
          <a:xfrm>
            <a:off x="6720840" y="5394960"/>
            <a:ext cx="4480200" cy="511560"/>
          </a:xfrm>
          <a:prstGeom prst="roundRect">
            <a:avLst>
              <a:gd name="adj" fmla="val 15000"/>
            </a:avLst>
          </a:prstGeom>
          <a:solidFill>
            <a:srgbClr val="1B222D"/>
          </a:solidFill>
          <a:ln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3" name="TextBox 48"/>
          <p:cNvSpPr/>
          <p:nvPr/>
        </p:nvSpPr>
        <p:spPr>
          <a:xfrm>
            <a:off x="6858000" y="5422320"/>
            <a:ext cx="118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5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Customer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Box 49"/>
          <p:cNvSpPr/>
          <p:nvPr/>
        </p:nvSpPr>
        <p:spPr>
          <a:xfrm>
            <a:off x="7955280" y="5413320"/>
            <a:ext cx="2102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</a:rPr>
              <a:t>tự đăng ký /register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Box 50"/>
          <p:cNvSpPr/>
          <p:nvPr/>
        </p:nvSpPr>
        <p:spPr>
          <a:xfrm>
            <a:off x="10012680" y="5413320"/>
            <a:ext cx="1142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—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7" name="Rectangle 2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8" name="Rectangle 3"/>
          <p:cNvSpPr/>
          <p:nvPr/>
        </p:nvSpPr>
        <p:spPr>
          <a:xfrm>
            <a:off x="0" y="6711840"/>
            <a:ext cx="12191400" cy="145800"/>
          </a:xfrm>
          <a:prstGeom prst="rect">
            <a:avLst/>
          </a:prstGeom>
          <a:solidFill>
            <a:srgbClr val="58A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9" name="TextBox 4"/>
          <p:cNvSpPr/>
          <p:nvPr/>
        </p:nvSpPr>
        <p:spPr>
          <a:xfrm>
            <a:off x="914400" y="118872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3FB950"/>
                </a:solidFill>
                <a:effectLst/>
                <a:uFillTx/>
                <a:latin typeface="Consolas"/>
              </a:rPr>
              <a:t>kernel@store:~$ </a:t>
            </a:r>
            <a:r>
              <a:rPr lang="en-US" sz="16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echo "Cảm ơn thầy và các bạn đã lắng nghe!"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Box 5"/>
          <p:cNvSpPr/>
          <p:nvPr/>
        </p:nvSpPr>
        <p:spPr>
          <a:xfrm>
            <a:off x="868680" y="1783080"/>
            <a:ext cx="10423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44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Tổng kết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Oval 6"/>
          <p:cNvSpPr/>
          <p:nvPr/>
        </p:nvSpPr>
        <p:spPr>
          <a:xfrm>
            <a:off x="960120" y="2871360"/>
            <a:ext cx="164160" cy="164160"/>
          </a:xfrm>
          <a:prstGeom prst="ellipse">
            <a:avLst/>
          </a:prstGeom>
          <a:solidFill>
            <a:srgbClr val="3FB9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2" name="TextBox 7"/>
          <p:cNvSpPr/>
          <p:nvPr/>
        </p:nvSpPr>
        <p:spPr>
          <a:xfrm>
            <a:off x="1280160" y="278892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Sàn TMĐT đa nhà bán hoàn chỉnh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Oval 8"/>
          <p:cNvSpPr/>
          <p:nvPr/>
        </p:nvSpPr>
        <p:spPr>
          <a:xfrm>
            <a:off x="960120" y="3401640"/>
            <a:ext cx="164160" cy="164160"/>
          </a:xfrm>
          <a:prstGeom prst="ellipse">
            <a:avLst/>
          </a:prstGeom>
          <a:solidFill>
            <a:srgbClr val="58A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4" name="TextBox 9"/>
          <p:cNvSpPr/>
          <p:nvPr/>
        </p:nvSpPr>
        <p:spPr>
          <a:xfrm>
            <a:off x="1280160" y="331920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3 vai trò · full vòng đời đơn hàng · chat realtime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Oval 10"/>
          <p:cNvSpPr/>
          <p:nvPr/>
        </p:nvSpPr>
        <p:spPr>
          <a:xfrm>
            <a:off x="960120" y="3931920"/>
            <a:ext cx="164160" cy="164160"/>
          </a:xfrm>
          <a:prstGeom prst="ellipse">
            <a:avLst/>
          </a:prstGeom>
          <a:solidFill>
            <a:srgbClr val="E3B3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6" name="TextBox 11"/>
          <p:cNvSpPr/>
          <p:nvPr/>
        </p:nvSpPr>
        <p:spPr>
          <a:xfrm>
            <a:off x="1280160" y="384948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Rust + ASP.NET Core 10 + PostgreSQL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Oval 12"/>
          <p:cNvSpPr/>
          <p:nvPr/>
        </p:nvSpPr>
        <p:spPr>
          <a:xfrm>
            <a:off x="960120" y="4462200"/>
            <a:ext cx="164160" cy="164160"/>
          </a:xfrm>
          <a:prstGeom prst="ellipse">
            <a:avLst/>
          </a:prstGeom>
          <a:solidFill>
            <a:srgbClr val="BC8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8" name="TextBox 13"/>
          <p:cNvSpPr/>
          <p:nvPr/>
        </p:nvSpPr>
        <p:spPr>
          <a:xfrm>
            <a:off x="1280160" y="438012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276/276 kiểm thử API tự động PASS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Rounded Rectangle 14"/>
          <p:cNvSpPr/>
          <p:nvPr/>
        </p:nvSpPr>
        <p:spPr>
          <a:xfrm>
            <a:off x="7863840" y="2697480"/>
            <a:ext cx="3611520" cy="19656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0" name="TextBox 15"/>
          <p:cNvSpPr/>
          <p:nvPr/>
        </p:nvSpPr>
        <p:spPr>
          <a:xfrm>
            <a:off x="8138160" y="288036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# Hướng phát triển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Box 16"/>
          <p:cNvSpPr/>
          <p:nvPr/>
        </p:nvSpPr>
        <p:spPr>
          <a:xfrm>
            <a:off x="8138160" y="324612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▸ </a:t>
            </a: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Thanh toán online (VNPay/Stripe)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Box 17"/>
          <p:cNvSpPr/>
          <p:nvPr/>
        </p:nvSpPr>
        <p:spPr>
          <a:xfrm>
            <a:off x="8138160" y="357516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▸ </a:t>
            </a: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Thông báo đẩy realtime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Box 18"/>
          <p:cNvSpPr/>
          <p:nvPr/>
        </p:nvSpPr>
        <p:spPr>
          <a:xfrm>
            <a:off x="8138160" y="390456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▸ </a:t>
            </a: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Gợi ý sản phẩm bằng AI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Box 19"/>
          <p:cNvSpPr/>
          <p:nvPr/>
        </p:nvSpPr>
        <p:spPr>
          <a:xfrm>
            <a:off x="8138160" y="423360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58A6FF"/>
                </a:solidFill>
                <a:effectLst/>
                <a:uFillTx/>
                <a:latin typeface="Consolas"/>
              </a:rPr>
              <a:t>▸ </a:t>
            </a:r>
            <a:r>
              <a:rPr lang="en-US" sz="1150" b="0" u="none" strike="noStrike">
                <a:solidFill>
                  <a:srgbClr val="8B949E"/>
                </a:solidFill>
                <a:effectLst/>
                <a:uFillTx/>
                <a:latin typeface="Segoe UI"/>
              </a:rPr>
              <a:t>Ứng dụng mobile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Box 20"/>
          <p:cNvSpPr/>
          <p:nvPr/>
        </p:nvSpPr>
        <p:spPr>
          <a:xfrm>
            <a:off x="868680" y="5074920"/>
            <a:ext cx="10423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400" b="1" u="none" strike="noStrike">
                <a:solidFill>
                  <a:srgbClr val="E6EDF3"/>
                </a:solidFill>
                <a:effectLst/>
                <a:uFillTx/>
                <a:latin typeface="Segoe UI"/>
              </a:rPr>
              <a:t>Cảm ơn </a:t>
            </a:r>
            <a:r>
              <a:rPr lang="en-US" sz="3400" b="1" u="none" strike="noStrike">
                <a:solidFill>
                  <a:srgbClr val="3FB950"/>
                </a:solidFill>
                <a:effectLst/>
                <a:uFillTx/>
                <a:latin typeface="Segoe UI"/>
              </a:rPr>
              <a:t>KernelStore</a:t>
            </a:r>
            <a:r>
              <a:rPr lang="en-US" sz="3400" b="1" u="none" strike="noStrike">
                <a:solidFill>
                  <a:srgbClr val="BC8CFF"/>
                </a:solidFill>
                <a:effectLst/>
                <a:uFillTx/>
                <a:latin typeface="Segoe UI"/>
              </a:rPr>
              <a:t> ♥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Box 21"/>
          <p:cNvSpPr/>
          <p:nvPr/>
        </p:nvSpPr>
        <p:spPr>
          <a:xfrm>
            <a:off x="914400" y="59436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8B949E"/>
                </a:solidFill>
                <a:effectLst/>
                <a:uFillTx/>
                <a:latin typeface="Consolas"/>
              </a:rPr>
              <a:t>Sinh viên: Linh   ·   Đề tài kết thúc môn   ·   08/2026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LibreOffice/26.2.1.2$Linux_X86_64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