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486400" cy="5486400"/>
          </a:xfrm>
          <a:prstGeom prst="ellipse">
            <a:avLst/>
          </a:prstGeom>
          <a:noFill/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926080"/>
            <a:ext cx="4572000" cy="4572000"/>
          </a:xfrm>
          <a:prstGeom prst="ellipse">
            <a:avLst/>
          </a:prstGeom>
          <a:noFill/>
          <a:ln w="10160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B950"/>
                </a:solidFill>
                <a:latin typeface="Consolas"/>
              </a:rPr>
              <a:t>linh@nixos</a:t>
            </a:r>
            <a:r>
              <a:rPr sz="1500" b="0">
                <a:solidFill>
                  <a:srgbClr val="8B949E"/>
                </a:solidFill>
                <a:latin typeface="Consolas"/>
              </a:rPr>
              <a:t>:</a:t>
            </a:r>
            <a:r>
              <a:rPr sz="1500" b="1">
                <a:solidFill>
                  <a:srgbClr val="58A6FF"/>
                </a:solidFill>
                <a:latin typeface="Consolas"/>
              </a:rPr>
              <a:t>~/Projects/KernelStore</a:t>
            </a:r>
            <a:r>
              <a:rPr sz="1500" b="0">
                <a:solidFill>
                  <a:srgbClr val="E6EDF3"/>
                </a:solidFill>
                <a:latin typeface="Consolas"/>
              </a:rPr>
              <a:t>$ ./present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>
                <a:solidFill>
                  <a:srgbClr val="E6EDF3"/>
                </a:solidFill>
                <a:latin typeface="Segoe UI"/>
              </a:rPr>
              <a:t>KernelStore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3FB950"/>
                </a:solidFill>
                <a:latin typeface="Segoe UI"/>
              </a:rPr>
              <a:t>Sàn Thương Mại Điện Tử Đa Nhà Cung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onsolas"/>
              </a:rPr>
              <a:t>Multi-vendor E-commerce Marketplace  ·  Rust + Leptos (WASM) · ASP.NET Core 10 ·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6766560" cy="1600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Sinh viên thực hiện:  </a:t>
            </a:r>
            <a:r>
              <a:rPr sz="1400" b="1">
                <a:solidFill>
                  <a:srgbClr val="E6EDF3"/>
                </a:solidFill>
                <a:latin typeface="Segoe UI"/>
              </a:rPr>
              <a:t>Nguyễn Linh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Lớp / Môn học:  </a:t>
            </a:r>
            <a:r>
              <a:rPr sz="1400" b="1">
                <a:solidFill>
                  <a:srgbClr val="E6EDF3"/>
                </a:solidFill>
                <a:latin typeface="Segoe UI"/>
              </a:rPr>
              <a:t>&lt;điền lớp / tên môn&gt;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Giảng viên hướng dẫn:  </a:t>
            </a:r>
            <a:r>
              <a:rPr sz="1400" b="1">
                <a:solidFill>
                  <a:srgbClr val="E6EDF3"/>
                </a:solidFill>
                <a:latin typeface="Segoe UI"/>
              </a:rPr>
              <a:t>&lt;điền tên giảng viên&gt;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Ngày báo cáo:  </a:t>
            </a:r>
            <a:r>
              <a:rPr sz="1400" b="1">
                <a:solidFill>
                  <a:srgbClr val="E6EDF3"/>
                </a:solidFill>
                <a:latin typeface="Segoe UI"/>
              </a:rPr>
              <a:t>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01 //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Giới thiệu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KernelStore là sàn TMĐT đa nhà cung cấp (multi-vendor marketplace) — nhiều người bán cùng kinh doanh trên một nền tảng.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Chủ đề sản phẩm: kernel modules, drivers, tiện ích hệ thống — mang phong cách kỹ thuật, dành cho lập trình viên.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Ba vai trò tách biệt: Người mua (Buyer), Người bán (Seller) và Quản trị viên (Admin).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Tích hợp chat thời gian thực giữa người mua và người bán qua WebSocket.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Xây dựng bằng công nghệ hiện đại: frontend Rust biên dịch ra WebAssembly, backend .NET 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5212080" cy="4297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// vì sao đề tài này?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3172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Bài toán thực tế, đầy đủ nghiệp vụ e-commerce.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Phân quyền phức tạp theo nhiều vai trò.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Có tính năng realtime (chat) — không chỉ CRUD.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Kiến trúc client–server tách biệt rõ ràng.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Áp dụng stack công nghệ mới, đáng chú 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02 //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Mục tiêu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85032" cy="411480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Nghiệp vụ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04872"/>
            <a:ext cx="322783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Marketplace đa nhà cung cấp hoàn chỉnh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Luồng mua–bán: giỏ hàng → đặt hàng → đánh giá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Quản lý shop, sản phẩm, danh mục, đơn hàng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691640"/>
            <a:ext cx="3685032" cy="411480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Kỹ thuật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404872"/>
            <a:ext cx="322783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Xác thực JWT + phân quyền theo vai trò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Chat realtime qua WebSocket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REST API chuẩn hoá + tài liệu OpenAPI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91640"/>
            <a:ext cx="3685032" cy="411480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371F7"/>
                </a:solidFill>
                <a:latin typeface="Segoe UI"/>
              </a:rPr>
              <a:t>Trải nghiệm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404872"/>
            <a:ext cx="322783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Giao diện theme terminal/kernel độc đáo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Frontend SPA biên dịch WebAssembly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Triển khai 1 lệnh (Docker + script)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371F7"/>
                </a:solidFill>
                <a:latin typeface="Consolas"/>
              </a:rPr>
              <a:t>03 //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Công nghệ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85032" cy="420624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04872"/>
            <a:ext cx="322783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Rust (ngôn ngữ chính)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Leptos 0.7 — framework CSR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Trunk — bundler WASM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Tailwind CSS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Biên dịch → WebAssembly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Cổng :8080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691640"/>
            <a:ext cx="3685032" cy="420624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404872"/>
            <a:ext cx="322783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ASP.NET Core 10 Web API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Entity Framework 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ASP.NET Core Identity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JWT Bearer + Refresh Token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WebSocket (chat realtime)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Cổng :5000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91640"/>
            <a:ext cx="3685032" cy="420624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69164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9280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29922"/>
                </a:solidFill>
                <a:latin typeface="Segoe UI"/>
              </a:rPr>
              <a:t>Data &amp;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404872"/>
            <a:ext cx="322783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PostgreSQL 16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Docker Compose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NixOS dev shell (shell.nix)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Script chạy 1 lệnh (run.sh)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Bộ test API (curl + jq)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Cổng :5433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04 //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Consolas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Trình duyệt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Rust + Leptos (WASM)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Trunk dev server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:8080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4884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23317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onsolas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ASP.NET Core 10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29184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Controllers + Services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JWT / Identity / WebSocket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:5000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214884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23317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29922"/>
                </a:solidFill>
                <a:latin typeface="Consola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PostgreSQL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329184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EF Core + Migrations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Docker Compose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200">
                <a:solidFill>
                  <a:srgbClr val="E6EDF3"/>
                </a:solidFill>
                <a:latin typeface="Segoe UI"/>
              </a:rPr>
              <a:t>:5433</a:t>
            </a:r>
          </a:p>
        </p:txBody>
      </p:sp>
      <p:sp>
        <p:nvSpPr>
          <p:cNvPr id="18" name="Chevron 17"/>
          <p:cNvSpPr/>
          <p:nvPr/>
        </p:nvSpPr>
        <p:spPr>
          <a:xfrm>
            <a:off x="4041648" y="3154680"/>
            <a:ext cx="347472" cy="457200"/>
          </a:xfrm>
          <a:prstGeom prst="chevron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818120" y="3154680"/>
            <a:ext cx="347472" cy="457200"/>
          </a:xfrm>
          <a:prstGeom prst="chevron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651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HTTPS/WS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517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EF 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Luồng dữ liệu:  </a:t>
            </a:r>
            <a:r>
              <a:rPr sz="1300" b="0">
                <a:solidFill>
                  <a:srgbClr val="E6EDF3"/>
                </a:solidFill>
                <a:latin typeface="Segoe UI"/>
              </a:rPr>
              <a:t>Client gọi REST API (JSON) qua HTTP và mở kênh WebSocket cho chat realtime → API xử lý nghiệp vụ, xác thực JWT → EF Core truy vấn PostgreSQL. Response bọc trong ApiResponse chuẩn hoá.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Consolas"/>
              </a:rPr>
              <a:t>05 //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Chức năng theo vai trò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Buyer — Người mua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Duyệt &amp; tìm kiếm sản phẩm theo danh mục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Xem chi tiết, ảnh sản phẩm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Giỏ hàng &amp; thanh toán (checkout)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Theo dõi đơn hàng đã đặt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Viết đánh giá (review)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Chat trực tiếp với người bán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Seller — Người bán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Đăng ký &amp; quản lý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CRUD sản phẩm + upload ảnh từ ổ đĩa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Quản lý danh mục sản phẩm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Xử lý đơn hàng của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Dashboard doanh thu / thống kê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Chat trả lời khách hàng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371F7"/>
                </a:solidFill>
                <a:latin typeface="Segoe UI"/>
              </a:rPr>
              <a:t>Admin — Quản trị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Duyệt / từ chối / khoá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Quản lý người dùng toàn hệ thống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Quản lý danh mục toàn cục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Quản lý &amp; theo dõi đơn hàng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Dashboard tổng quan hệ thống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Kiểm soát nội dung nền tảng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06 //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Cơ sở dữ liệu — PostgreSQL (19 bảng)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Nghiệp vụ (Business)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Shops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Products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ProductImages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Categories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Orders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OrderDetails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CartItems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Reviews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371F7"/>
                </a:solidFill>
                <a:latin typeface="Segoe UI"/>
              </a:rPr>
              <a:t>Xác thực (Identity)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AspNetUsers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AspNetRoles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AspNetUserRoles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AspNetUserClaims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AspNetRoleClaims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AspNetUserLogins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AspNetUserTokens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371F7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RefreshTokens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29922"/>
                </a:solidFill>
                <a:latin typeface="Segoe UI"/>
              </a:rPr>
              <a:t>Chat &amp; Hệ thống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Conversations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ChatMessages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__EFMigrationsHistory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Quản lý bằng EF Core Migrations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Seed dữ liệu mẫu tự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07 //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Hệ thống API (14 Controllers)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Public / 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AuthController — đăng ký/đăng nhập/refresh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ProductsController — sản phẩm + tìm kiếm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CategoriesController — danh mục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CartController — giỏ hàng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OrdersController — đặt &amp; xem đơn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ReviewsController — đánh giá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Seller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ShopsController — quản lý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SellerDashboardController — thống kê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UploadsController — upload ảnh sản phẩm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3FB950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ChatController — hội thoại realtime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45920"/>
            <a:ext cx="3685032" cy="429768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645920"/>
            <a:ext cx="3685032" cy="82296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47088"/>
            <a:ext cx="3227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371F7"/>
                </a:solidFill>
                <a:latin typeface="Segoe U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359152"/>
            <a:ext cx="3227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A371F7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AdminShopsController — duyệt/khoá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A371F7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AdminUsersController — quản lý user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A371F7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AdminOrdersController — quản lý đơn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A371F7"/>
                </a:solidFill>
                <a:latin typeface="Segoe UI"/>
              </a:rPr>
              <a:t>▸  </a:t>
            </a:r>
            <a:r>
              <a:rPr sz="1250">
                <a:solidFill>
                  <a:srgbClr val="E6EDF3"/>
                </a:solidFill>
                <a:latin typeface="Segoe UI"/>
              </a:rPr>
              <a:t>AdminDashboardController — tổng quan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778BA"/>
                </a:solidFill>
                <a:latin typeface="Consolas"/>
              </a:rPr>
              <a:t>08 //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Điểm nổi bật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⬢  Chat thời gian thực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Kênh WebSocket giữa người mua và người bán, quản lý kết nối qua ChatConnectionManager.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470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⬢  Bảo mật &amp; phân quyền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9572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JWT access token + refresh token, phân quyền chi tiết theo vai trò với ASP.NET Identity.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95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A371F7"/>
                </a:solidFill>
                <a:latin typeface="Segoe UI"/>
              </a:rPr>
              <a:t>⬢  Upload ảnh sản phẩm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Người bán tải ảnh (jpg/png/svg) trực tiếp từ ổ đĩa cho từng sản phẩm.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995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9922"/>
                </a:solidFill>
                <a:latin typeface="Segoe UI"/>
              </a:rPr>
              <a:t>⬢  Frontend WebAssembly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4456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Toàn bộ giao diện viết bằng Rust/Leptos, biên dịch ra WASM chạy trong trình duyệt.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09 //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Kiểm thử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Bộ script test API viết bằng curl + jq, chia theo từng phase phát triển.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test_full_api.sh — smoke test end-to-end mọi vai trò.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test_extra_api.sh — kiểm thử các chức năng còn lại.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test_chat_api.sh — kiểm thử chat realtime (REST + WebSocket).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500">
                <a:solidFill>
                  <a:srgbClr val="E6EDF3"/>
                </a:solidFill>
                <a:latin typeface="Segoe UI"/>
              </a:rPr>
              <a:t>Kiểm thử thủ công trực tiếp trên giao diện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3FB950"/>
                </a:solidFill>
                <a:latin typeface="Consolas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8036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Segoe UI"/>
              </a:rPr>
              <a:t>checks
full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A371F7"/>
                </a:solidFill>
                <a:latin typeface="Consolas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8036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Segoe UI"/>
              </a:rPr>
              <a:t>checks
chức năng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828800"/>
            <a:ext cx="1600200" cy="1737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20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D29922"/>
                </a:solidFill>
                <a:latin typeface="Consolas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288036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Segoe UI"/>
              </a:rPr>
              <a:t>checks
chat realtime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Tổng cộng </a:t>
            </a:r>
            <a:r>
              <a:rPr sz="1500" b="1">
                <a:solidFill>
                  <a:srgbClr val="3FB950"/>
                </a:solidFill>
                <a:latin typeface="Segoe UI"/>
              </a:rPr>
              <a:t>145+ checks</a:t>
            </a:r>
            <a:r>
              <a:rPr sz="1500" b="0">
                <a:solidFill>
                  <a:srgbClr val="E6EDF3"/>
                </a:solidFill>
                <a:latin typeface="Segoe UI"/>
              </a:rPr>
              <a:t> tự động, bao phủ toàn bộ luồng nghiệp vụ và phân quyền của cả ba vai trò.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10 //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Cách chạy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301752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182880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9304" y="182880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bash — KernelStore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# NixOS/Linux — dựng cả stack (DB → Backend → Frontend) bằng 1 lệnh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FB950"/>
                </a:solidFill>
                <a:latin typeface="Consolas"/>
              </a:rPr>
              <a:t>$ </a:t>
            </a:r>
            <a:r>
              <a:rPr sz="1400" b="1">
                <a:solidFill>
                  <a:srgbClr val="E6EDF3"/>
                </a:solidFill>
                <a:latin typeface="Consolas"/>
              </a:rPr>
              <a:t>nix-shell --run ./run.sh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# Windows — double-click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FB950"/>
                </a:solidFill>
                <a:latin typeface="Consolas"/>
              </a:rPr>
              <a:t>&gt; </a:t>
            </a:r>
            <a:r>
              <a:rPr sz="1400" b="1">
                <a:solidFill>
                  <a:srgbClr val="E6EDF3"/>
                </a:solidFill>
                <a:latin typeface="Consolas"/>
              </a:rPr>
              <a:t>win-run-all.bat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# Mở trình duyệt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8A6FF"/>
                </a:solidFill>
                <a:latin typeface="Consolas"/>
              </a:rPr>
              <a:t>→ </a:t>
            </a:r>
            <a:r>
              <a:rPr sz="1400" b="1">
                <a:solidFill>
                  <a:srgbClr val="58A6FF"/>
                </a:solidFill>
                <a:latin typeface="Consolas"/>
              </a:rPr>
              <a:t>http://localhost:8080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50">
                <a:solidFill>
                  <a:srgbClr val="E6EDF3"/>
                </a:solidFill>
                <a:latin typeface="Segoe UI"/>
              </a:rPr>
              <a:t>Thứ tự khởi động bắt buộc: Database → Backend → Frontend (script tự lo).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50">
                <a:solidFill>
                  <a:srgbClr val="E6EDF3"/>
                </a:solidFill>
                <a:latin typeface="Segoe UI"/>
              </a:rPr>
              <a:t>Seed dữ liệu mẫu (tuỳ chọn): ./seed.sh  — tạo sẵn shop, sản phẩm, tài khoản demo.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11 // UI — BUYER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Giao diện — Trang chủ &amp;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532120" cy="2808954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746504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1746504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1746504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5532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49E"/>
                </a:solidFill>
                <a:latin typeface="Consolas"/>
              </a:rPr>
              <a:t>localhost:8080/</a:t>
            </a:r>
          </a:p>
        </p:txBody>
      </p:sp>
      <p:pic>
        <p:nvPicPr>
          <p:cNvPr id="12" name="Picture 11" descr="c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528"/>
            <a:ext cx="5532120" cy="2516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564602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● </a:t>
            </a:r>
            <a:r>
              <a:rPr sz="1300" b="1">
                <a:solidFill>
                  <a:srgbClr val="E6EDF3"/>
                </a:solidFill>
                <a:latin typeface="Segoe UI"/>
              </a:rPr>
              <a:t>Trang chủ — hero theme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532120" cy="356962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1746504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38544" y="1746504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1424" y="1746504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532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49E"/>
                </a:solidFill>
                <a:latin typeface="Consolas"/>
              </a:rPr>
              <a:t>localhost:8080/products</a:t>
            </a:r>
          </a:p>
        </p:txBody>
      </p:sp>
      <p:pic>
        <p:nvPicPr>
          <p:cNvPr id="20" name="Picture 19" descr="c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38528"/>
            <a:ext cx="5532120" cy="32770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5325268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● </a:t>
            </a:r>
            <a:r>
              <a:rPr sz="1300" b="1">
                <a:solidFill>
                  <a:srgbClr val="E6EDF3"/>
                </a:solidFill>
                <a:latin typeface="Segoe UI"/>
              </a:rPr>
              <a:t>Danh sách sản phẩm + bộ lọc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12 // UI — PRODUCT &amp; SELLER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Giao diện — Chi tiết SP &amp; Người bán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32120" cy="1994503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883664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1883664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1883664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5532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49E"/>
                </a:solidFill>
                <a:latin typeface="Consolas"/>
              </a:rPr>
              <a:t>localhost:8080/products/apple-macbook-pro-14</a:t>
            </a:r>
          </a:p>
        </p:txBody>
      </p:sp>
      <p:pic>
        <p:nvPicPr>
          <p:cNvPr id="12" name="Picture 11" descr="c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5688"/>
            <a:ext cx="5532120" cy="1701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3887311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371F7"/>
                </a:solidFill>
                <a:latin typeface="Segoe UI"/>
              </a:rPr>
              <a:t>● </a:t>
            </a:r>
            <a:r>
              <a:rPr sz="1300" b="1">
                <a:solidFill>
                  <a:srgbClr val="E6EDF3"/>
                </a:solidFill>
                <a:latin typeface="Segoe UI"/>
              </a:rPr>
              <a:t>Chi tiết sản phẩm + đánh giá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532120" cy="3404425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1746504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38544" y="1746504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1424" y="1746504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532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49E"/>
                </a:solidFill>
                <a:latin typeface="Consolas"/>
              </a:rPr>
              <a:t>localhost:8080/seller</a:t>
            </a:r>
          </a:p>
        </p:txBody>
      </p:sp>
      <p:pic>
        <p:nvPicPr>
          <p:cNvPr id="20" name="Picture 19" descr="c_se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38528"/>
            <a:ext cx="5532120" cy="31118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5160073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● </a:t>
            </a:r>
            <a:r>
              <a:rPr sz="1300" b="1">
                <a:solidFill>
                  <a:srgbClr val="E6EDF3"/>
                </a:solidFill>
                <a:latin typeface="Segoe UI"/>
              </a:rPr>
              <a:t>Dashboard người bán — doanh thu, đơn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371F7"/>
                </a:solidFill>
                <a:latin typeface="Consolas"/>
              </a:rPr>
              <a:t>13 // UI —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Giao diện — Trang quản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720840" cy="407308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6720840" cy="29260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792224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1792224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1792224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6720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949E"/>
                </a:solidFill>
                <a:latin typeface="Consolas"/>
              </a:rPr>
              <a:t>localhost:8080/admin</a:t>
            </a:r>
          </a:p>
        </p:txBody>
      </p:sp>
      <p:pic>
        <p:nvPicPr>
          <p:cNvPr id="12" name="Picture 11" descr="c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4248"/>
            <a:ext cx="6720840" cy="3780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874448"/>
            <a:ext cx="6720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371F7"/>
                </a:solidFill>
                <a:latin typeface="Segoe UI"/>
              </a:rPr>
              <a:t>● </a:t>
            </a:r>
            <a:r>
              <a:rPr sz="1300" b="1">
                <a:solidFill>
                  <a:srgbClr val="E6EDF3"/>
                </a:solidFill>
                <a:latin typeface="Segoe UI"/>
              </a:rPr>
              <a:t>Dashboard quản trị toàn hệ thống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916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35240" y="1691640"/>
            <a:ext cx="4023360" cy="82296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189280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29922"/>
                </a:solidFill>
                <a:latin typeface="Segoe UI"/>
              </a:rPr>
              <a:t>Số liệu tổng quan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404872"/>
            <a:ext cx="3566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Người dùng, cửa hàng, sản phẩm, đơn hàng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Tổng doanh thu toàn nền tảng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Giám sát tỉ lệ shop được duyệt / chờ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Thống kê đơn hàng theo trạng thái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▸  </a:t>
            </a:r>
            <a:r>
              <a:rPr sz="1300">
                <a:solidFill>
                  <a:srgbClr val="E6EDF3"/>
                </a:solidFill>
                <a:latin typeface="Segoe UI"/>
              </a:rPr>
              <a:t>Duyệt shop &amp; quản lý danh mục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371F7"/>
                </a:solidFill>
                <a:latin typeface="Consolas"/>
              </a:rPr>
              <a:t>14 //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Kết luận &amp;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38100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✓  Kết quả đạt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Marketplace đa nhà cung cấp hoàn chỉnh với 3 vai trò.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Đầy đủ luồng: sản phẩm → giỏ → đơn hàng → đánh giá.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Chat realtime, xác thực JWT, upload ảnh sản phẩm.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Kiến trúc client–server rõ ràng, API chuẩn hoá.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Triển khai đơn giản bằng Docker + script 1 lệnh.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1C212B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→  Hướng phát triển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Tích hợp cổng thanh toán online (VNPay/Momo/Stripe).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Thông báo đẩy (push notification) cho đơn hàng &amp; chat.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Tìm kiếm nâng cao &amp; gợi ý sản phẩm.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Triển khai lên cloud (CI/CD, container hoá đầy đủ).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E6EDF3"/>
                </a:solidFill>
                <a:latin typeface="Segoe UI"/>
              </a:rPr>
              <a:t>Ứng dụng di động (mobile app).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Consolas"/>
              </a:rPr>
              <a:t>linh@nixos</a:t>
            </a:r>
            <a:r>
              <a:rPr sz="1600" b="0">
                <a:solidFill>
                  <a:srgbClr val="8B949E"/>
                </a:solidFill>
                <a:latin typeface="Consolas"/>
              </a:rPr>
              <a:t>:~$ </a:t>
            </a:r>
            <a:r>
              <a:rPr sz="1600" b="1">
                <a:solidFill>
                  <a:srgbClr val="E6EDF3"/>
                </a:solidFill>
                <a:latin typeface="Consolas"/>
              </a:rPr>
              <a:t>echo "Thank you!"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6EDF3"/>
                </a:solidFill>
                <a:latin typeface="Segoe UI"/>
              </a:rPr>
              <a:t>Cảm ơn thầy và các bạn đã lắng nghe!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B949E"/>
                </a:solidFill>
                <a:latin typeface="Consolas"/>
              </a:rPr>
              <a:t>KernelStore — Multi-vendor E-commerce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58A6FF"/>
                </a:solidFill>
                <a:latin typeface="Segoe U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